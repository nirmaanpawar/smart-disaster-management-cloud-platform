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05840"/>
            <a:ext cx="10698480" cy="457200"/>
          </a:xfrm>
          <a:prstGeom prst="rect">
            <a:avLst/>
          </a:prstGeom>
          <a:noFill/>
        </p:spPr>
        <p:txBody>
          <a:bodyPr wrap="none">
            <a:spAutoFit/>
          </a:bodyPr>
          <a:lstStyle/>
          <a:p>
            <a:pPr algn="ctr">
              <a:defRPr sz="1500" b="1">
                <a:solidFill>
                  <a:srgbClr val="A7F3D0"/>
                </a:solidFill>
              </a:defRPr>
            </a:pPr>
            <a:r>
              <a:t>MIT WORLD PEACE UNIVERSITY, PUNE</a:t>
            </a:r>
          </a:p>
        </p:txBody>
      </p:sp>
      <p:sp>
        <p:nvSpPr>
          <p:cNvPr id="4" name="TextBox 3"/>
          <p:cNvSpPr txBox="1"/>
          <p:nvPr/>
        </p:nvSpPr>
        <p:spPr>
          <a:xfrm>
            <a:off x="731520" y="1645920"/>
            <a:ext cx="10698480" cy="1463040"/>
          </a:xfrm>
          <a:prstGeom prst="rect">
            <a:avLst/>
          </a:prstGeom>
          <a:noFill/>
        </p:spPr>
        <p:txBody>
          <a:bodyPr wrap="square">
            <a:spAutoFit/>
          </a:bodyPr>
          <a:lstStyle/>
          <a:p>
            <a:pPr algn="ctr">
              <a:defRPr sz="4000" b="1">
                <a:solidFill>
                  <a:srgbClr val="FFFFFF"/>
                </a:solidFill>
              </a:defRPr>
            </a:pPr>
            <a:r>
              <a:t>Cloud Computing</a:t>
            </a:r>
          </a:p>
          <a:p>
            <a:pPr algn="ctr">
              <a:defRPr sz="3600" b="1">
                <a:solidFill>
                  <a:srgbClr val="FFFFFF"/>
                </a:solidFill>
              </a:defRPr>
            </a:pPr>
            <a:r>
              <a:t>Project Based Learning</a:t>
            </a:r>
          </a:p>
        </p:txBody>
      </p:sp>
      <p:sp>
        <p:nvSpPr>
          <p:cNvPr id="5" name="TextBox 4"/>
          <p:cNvSpPr txBox="1"/>
          <p:nvPr/>
        </p:nvSpPr>
        <p:spPr>
          <a:xfrm>
            <a:off x="914400" y="3383280"/>
            <a:ext cx="10332720" cy="822960"/>
          </a:xfrm>
          <a:prstGeom prst="rect">
            <a:avLst/>
          </a:prstGeom>
          <a:noFill/>
        </p:spPr>
        <p:txBody>
          <a:bodyPr wrap="square">
            <a:spAutoFit/>
          </a:bodyPr>
          <a:lstStyle/>
          <a:p>
            <a:pPr algn="ctr">
              <a:defRPr sz="2200" b="1">
                <a:solidFill>
                  <a:srgbClr val="FEF08A"/>
                </a:solidFill>
              </a:defRPr>
            </a:pPr>
            <a:r>
              <a:t>Smart Disaster Management &amp; Aerial Drone Reconnaissance Cloud Platform</a:t>
            </a:r>
          </a:p>
        </p:txBody>
      </p:sp>
      <p:sp>
        <p:nvSpPr>
          <p:cNvPr id="6" name="TextBox 5"/>
          <p:cNvSpPr txBox="1"/>
          <p:nvPr/>
        </p:nvSpPr>
        <p:spPr>
          <a:xfrm>
            <a:off x="914400" y="4389120"/>
            <a:ext cx="10332720" cy="1371600"/>
          </a:xfrm>
          <a:prstGeom prst="rect">
            <a:avLst/>
          </a:prstGeom>
          <a:noFill/>
        </p:spPr>
        <p:txBody>
          <a:bodyPr wrap="square">
            <a:spAutoFit/>
          </a:bodyPr>
          <a:lstStyle/>
          <a:p>
            <a:pPr algn="ctr">
              <a:defRPr sz="1600">
                <a:solidFill>
                  <a:srgbClr val="FFFFFF"/>
                </a:solidFill>
              </a:defRPr>
            </a:pPr>
            <a:r>
              <a:t>Course Code: ECA4PE23A | B.Tech ECE (AIML) | DoEEE, MIT-WPU</a:t>
            </a:r>
          </a:p>
          <a:p>
            <a:pPr algn="ctr">
              <a:defRPr sz="1500">
                <a:solidFill>
                  <a:srgbClr val="CBD5E1"/>
                </a:solidFill>
              </a:defRPr>
            </a:pPr>
            <a:r>
              <a:t>Academic Year 2026-27</a:t>
            </a:r>
          </a:p>
          <a:p>
            <a:pPr algn="ctr">
              <a:defRPr sz="1600" b="1">
                <a:solidFill>
                  <a:srgbClr val="A7F3D0"/>
                </a:solidFill>
              </a:defRPr>
            </a:pPr>
            <a:r>
              <a:t>Team: Prince Gupta (1032232904), Nirmaan Pawar (1032232352)   |   Guide: [Faculty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lgn="l">
              <a:defRPr sz="3000" b="1">
                <a:solidFill>
                  <a:srgbClr val="1B4332"/>
                </a:solidFill>
              </a:defRPr>
            </a:pPr>
            <a:r>
              <a:t>Project Team and Guidance</a:t>
            </a:r>
          </a:p>
        </p:txBody>
      </p:sp>
      <p:sp>
        <p:nvSpPr>
          <p:cNvPr id="3" name="TextBox 2"/>
          <p:cNvSpPr txBox="1"/>
          <p:nvPr/>
        </p:nvSpPr>
        <p:spPr>
          <a:xfrm>
            <a:off x="731520" y="6309360"/>
            <a:ext cx="9601200" cy="365760"/>
          </a:xfrm>
          <a:prstGeom prst="rect">
            <a:avLst/>
          </a:prstGeom>
          <a:noFill/>
        </p:spPr>
        <p:txBody>
          <a:bodyPr wrap="none">
            <a:spAutoFit/>
          </a:bodyPr>
          <a:lstStyle/>
          <a:p>
            <a:pPr>
              <a:defRPr sz="1100">
                <a:solidFill>
                  <a:srgbClr val="475569"/>
                </a:solidFill>
              </a:defRPr>
            </a:pPr>
            <a:r>
              <a:t>ECA4PE23A Cloud Computing | B.Tech ECE (AIML) | DoEEE, MIT-WPU | AY 2026-27</a:t>
            </a:r>
          </a:p>
        </p:txBody>
      </p:sp>
      <p:sp>
        <p:nvSpPr>
          <p:cNvPr id="4" name="TextBox 3"/>
          <p:cNvSpPr txBox="1"/>
          <p:nvPr/>
        </p:nvSpPr>
        <p:spPr>
          <a:xfrm>
            <a:off x="10789920" y="6309360"/>
            <a:ext cx="731520" cy="365760"/>
          </a:xfrm>
          <a:prstGeom prst="rect">
            <a:avLst/>
          </a:prstGeom>
          <a:noFill/>
        </p:spPr>
        <p:txBody>
          <a:bodyPr wrap="none">
            <a:spAutoFit/>
          </a:bodyPr>
          <a:lstStyle/>
          <a:p>
            <a:pPr algn="r">
              <a:defRPr sz="1100" b="1">
                <a:solidFill>
                  <a:srgbClr val="475569"/>
                </a:solidFill>
              </a:defRPr>
            </a:pPr>
            <a:r>
              <a:t>2</a:t>
            </a:r>
          </a:p>
        </p:txBody>
      </p:sp>
      <p:graphicFrame>
        <p:nvGraphicFramePr>
          <p:cNvPr id="5" name="Table 4"/>
          <p:cNvGraphicFramePr>
            <a:graphicFrameLocks noGrp="1"/>
          </p:cNvGraphicFramePr>
          <p:nvPr/>
        </p:nvGraphicFramePr>
        <p:xfrm>
          <a:off x="731520" y="1463040"/>
          <a:ext cx="7132320" cy="2286000"/>
        </p:xfrm>
        <a:graphic>
          <a:graphicData uri="http://schemas.openxmlformats.org/drawingml/2006/table">
            <a:tbl>
              <a:tblPr firstRow="1" bandRow="1">
                <a:tableStyleId>{5C22544A-7EE6-4342-B048-85BDC9FD1C3A}</a:tableStyleId>
              </a:tblPr>
              <a:tblGrid>
                <a:gridCol w="731520"/>
                <a:gridCol w="2011680"/>
                <a:gridCol w="1645920"/>
                <a:gridCol w="2743200"/>
              </a:tblGrid>
              <a:tr h="762000">
                <a:tc>
                  <a:txBody>
                    <a:bodyPr/>
                    <a:lstStyle/>
                    <a:p>
                      <a:pPr>
                        <a:defRPr b="1" sz="1300">
                          <a:solidFill>
                            <a:srgbClr val="FFFFFF"/>
                          </a:solidFill>
                        </a:defRPr>
                      </a:pPr>
                      <a:r>
                        <a:t>Sr.</a:t>
                      </a:r>
                    </a:p>
                  </a:txBody>
                  <a:tcPr>
                    <a:solidFill>
                      <a:srgbClr val="1B4332"/>
                    </a:solidFill>
                  </a:tcPr>
                </a:tc>
                <a:tc>
                  <a:txBody>
                    <a:bodyPr/>
                    <a:lstStyle/>
                    <a:p>
                      <a:pPr>
                        <a:defRPr b="1" sz="1300">
                          <a:solidFill>
                            <a:srgbClr val="FFFFFF"/>
                          </a:solidFill>
                        </a:defRPr>
                      </a:pPr>
                      <a:r>
                        <a:t>Name</a:t>
                      </a:r>
                    </a:p>
                  </a:txBody>
                  <a:tcPr>
                    <a:solidFill>
                      <a:srgbClr val="1B4332"/>
                    </a:solidFill>
                  </a:tcPr>
                </a:tc>
                <a:tc>
                  <a:txBody>
                    <a:bodyPr/>
                    <a:lstStyle/>
                    <a:p>
                      <a:pPr>
                        <a:defRPr b="1" sz="1300">
                          <a:solidFill>
                            <a:srgbClr val="FFFFFF"/>
                          </a:solidFill>
                        </a:defRPr>
                      </a:pPr>
                      <a:r>
                        <a:t>PRN</a:t>
                      </a:r>
                    </a:p>
                  </a:txBody>
                  <a:tcPr>
                    <a:solidFill>
                      <a:srgbClr val="1B4332"/>
                    </a:solidFill>
                  </a:tcPr>
                </a:tc>
                <a:tc>
                  <a:txBody>
                    <a:bodyPr/>
                    <a:lstStyle/>
                    <a:p>
                      <a:pPr>
                        <a:defRPr b="1" sz="1300">
                          <a:solidFill>
                            <a:srgbClr val="FFFFFF"/>
                          </a:solidFill>
                        </a:defRPr>
                      </a:pPr>
                      <a:r>
                        <a:t>Role</a:t>
                      </a:r>
                    </a:p>
                  </a:txBody>
                  <a:tcPr>
                    <a:solidFill>
                      <a:srgbClr val="1B4332"/>
                    </a:solidFill>
                  </a:tcPr>
                </a:tc>
              </a:tr>
              <a:tr h="762000">
                <a:tc>
                  <a:txBody>
                    <a:bodyPr/>
                    <a:lstStyle/>
                    <a:p>
                      <a:pPr>
                        <a:defRPr sz="1200">
                          <a:solidFill>
                            <a:srgbClr val="0F172A"/>
                          </a:solidFill>
                        </a:defRPr>
                      </a:pPr>
                      <a:r>
                        <a:t>1</a:t>
                      </a:r>
                    </a:p>
                  </a:txBody>
                  <a:tcPr>
                    <a:solidFill>
                      <a:srgbClr val="F1F8F5"/>
                    </a:solidFill>
                  </a:tcPr>
                </a:tc>
                <a:tc>
                  <a:txBody>
                    <a:bodyPr/>
                    <a:lstStyle/>
                    <a:p>
                      <a:pPr>
                        <a:defRPr sz="1200">
                          <a:solidFill>
                            <a:srgbClr val="0F172A"/>
                          </a:solidFill>
                        </a:defRPr>
                      </a:pPr>
                      <a:r>
                        <a:t>Prince Gupta</a:t>
                      </a:r>
                    </a:p>
                  </a:txBody>
                  <a:tcPr>
                    <a:solidFill>
                      <a:srgbClr val="F1F8F5"/>
                    </a:solidFill>
                  </a:tcPr>
                </a:tc>
                <a:tc>
                  <a:txBody>
                    <a:bodyPr/>
                    <a:lstStyle/>
                    <a:p>
                      <a:pPr>
                        <a:defRPr sz="1200">
                          <a:solidFill>
                            <a:srgbClr val="0F172A"/>
                          </a:solidFill>
                        </a:defRPr>
                      </a:pPr>
                      <a:r>
                        <a:t>1032232904</a:t>
                      </a:r>
                    </a:p>
                  </a:txBody>
                  <a:tcPr>
                    <a:solidFill>
                      <a:srgbClr val="F1F8F5"/>
                    </a:solidFill>
                  </a:tcPr>
                </a:tc>
                <a:tc>
                  <a:txBody>
                    <a:bodyPr/>
                    <a:lstStyle/>
                    <a:p>
                      <a:pPr>
                        <a:defRPr sz="1200">
                          <a:solidFill>
                            <a:srgbClr val="0F172A"/>
                          </a:solidFill>
                        </a:defRPr>
                      </a:pPr>
                      <a:r>
                        <a:t>Cloud Architecture, Lambda &amp; DynamoDB</a:t>
                      </a:r>
                    </a:p>
                  </a:txBody>
                  <a:tcPr>
                    <a:solidFill>
                      <a:srgbClr val="F1F8F5"/>
                    </a:solidFill>
                  </a:tcPr>
                </a:tc>
              </a:tr>
              <a:tr h="762000">
                <a:tc>
                  <a:txBody>
                    <a:bodyPr/>
                    <a:lstStyle/>
                    <a:p>
                      <a:pPr>
                        <a:defRPr sz="1200">
                          <a:solidFill>
                            <a:srgbClr val="0F172A"/>
                          </a:solidFill>
                        </a:defRPr>
                      </a:pPr>
                      <a:r>
                        <a:t>2</a:t>
                      </a:r>
                    </a:p>
                  </a:txBody>
                  <a:tcPr>
                    <a:solidFill>
                      <a:srgbClr val="FFFFFF"/>
                    </a:solidFill>
                  </a:tcPr>
                </a:tc>
                <a:tc>
                  <a:txBody>
                    <a:bodyPr/>
                    <a:lstStyle/>
                    <a:p>
                      <a:pPr>
                        <a:defRPr sz="1200">
                          <a:solidFill>
                            <a:srgbClr val="0F172A"/>
                          </a:solidFill>
                        </a:defRPr>
                      </a:pPr>
                      <a:r>
                        <a:t>Nirmaan Pawar</a:t>
                      </a:r>
                    </a:p>
                  </a:txBody>
                  <a:tcPr>
                    <a:solidFill>
                      <a:srgbClr val="FFFFFF"/>
                    </a:solidFill>
                  </a:tcPr>
                </a:tc>
                <a:tc>
                  <a:txBody>
                    <a:bodyPr/>
                    <a:lstStyle/>
                    <a:p>
                      <a:pPr>
                        <a:defRPr sz="1200">
                          <a:solidFill>
                            <a:srgbClr val="0F172A"/>
                          </a:solidFill>
                        </a:defRPr>
                      </a:pPr>
                      <a:r>
                        <a:t>1032232352</a:t>
                      </a:r>
                    </a:p>
                  </a:txBody>
                  <a:tcPr>
                    <a:solidFill>
                      <a:srgbClr val="FFFFFF"/>
                    </a:solidFill>
                  </a:tcPr>
                </a:tc>
                <a:tc>
                  <a:txBody>
                    <a:bodyPr/>
                    <a:lstStyle/>
                    <a:p>
                      <a:pPr>
                        <a:defRPr sz="1200">
                          <a:solidFill>
                            <a:srgbClr val="0F172A"/>
                          </a:solidFill>
                        </a:defRPr>
                      </a:pPr>
                      <a:r>
                        <a:t>Drone Telemetry, WebRTC &amp; Dashboard</a:t>
                      </a:r>
                    </a:p>
                  </a:txBody>
                  <a:tcPr>
                    <a:solidFill>
                      <a:srgbClr val="FFFFFF"/>
                    </a:solidFill>
                  </a:tcPr>
                </a:tc>
              </a:tr>
            </a:tbl>
          </a:graphicData>
        </a:graphic>
      </p:graphicFrame>
      <p:sp>
        <p:nvSpPr>
          <p:cNvPr id="6" name="Rounded Rectangle 5"/>
          <p:cNvSpPr/>
          <p:nvPr/>
        </p:nvSpPr>
        <p:spPr>
          <a:xfrm>
            <a:off x="8229600" y="1463040"/>
            <a:ext cx="3200400" cy="256032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0" y="1645920"/>
            <a:ext cx="2834640" cy="2194560"/>
          </a:xfrm>
          <a:prstGeom prst="rect">
            <a:avLst/>
          </a:prstGeom>
          <a:noFill/>
        </p:spPr>
        <p:txBody>
          <a:bodyPr wrap="none">
            <a:spAutoFit/>
          </a:bodyPr>
          <a:lstStyle/>
          <a:p>
            <a:pPr>
              <a:defRPr b="1" sz="1600">
                <a:solidFill>
                  <a:srgbClr val="1B4332"/>
                </a:solidFill>
              </a:defRPr>
            </a:pPr>
            <a:r>
              <a:t>Project Guide</a:t>
            </a:r>
          </a:p>
          <a:p>
            <a:pPr>
              <a:defRPr sz="1400">
                <a:solidFill>
                  <a:srgbClr val="475569"/>
                </a:solidFill>
              </a:defRPr>
            </a:pPr>
            <a:r>
              <a:t>[Faculty Name]</a:t>
            </a:r>
          </a:p>
          <a:p>
            <a:br/>
            <a:pPr>
              <a:defRPr b="1" sz="1400">
                <a:solidFill>
                  <a:srgbClr val="1B4332"/>
                </a:solidFill>
              </a:defRPr>
            </a:pPr>
            <a:r>
              <a:t>Course</a:t>
            </a:r>
          </a:p>
          <a:p>
            <a:pPr>
              <a:defRPr sz="1300">
                <a:solidFill>
                  <a:srgbClr val="475569"/>
                </a:solidFill>
              </a:defRPr>
            </a:pPr>
            <a:r>
              <a:t>ECA4PE23A - Cloud Computing</a:t>
            </a:r>
            <a:br/>
            <a:r>
              <a:t>Batch / Div: B.Tech ECE (AIML)</a:t>
            </a:r>
          </a:p>
        </p:txBody>
      </p:sp>
      <p:sp>
        <p:nvSpPr>
          <p:cNvPr id="8" name="Rounded Rectangle 7"/>
          <p:cNvSpPr/>
          <p:nvPr/>
        </p:nvSpPr>
        <p:spPr>
          <a:xfrm>
            <a:off x="731520" y="4297680"/>
            <a:ext cx="10698480" cy="146304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480560"/>
            <a:ext cx="10149840" cy="1097280"/>
          </a:xfrm>
          <a:prstGeom prst="rect">
            <a:avLst/>
          </a:prstGeom>
          <a:noFill/>
        </p:spPr>
        <p:txBody>
          <a:bodyPr wrap="none">
            <a:spAutoFit/>
          </a:bodyPr>
          <a:lstStyle/>
          <a:p>
            <a:pPr>
              <a:defRPr b="1" sz="1600">
                <a:solidFill>
                  <a:srgbClr val="1B4332"/>
                </a:solidFill>
              </a:defRPr>
            </a:pPr>
            <a:r>
              <a:t>Project Title:</a:t>
            </a:r>
          </a:p>
          <a:p>
            <a:pPr>
              <a:defRPr sz="1800" b="1">
                <a:solidFill>
                  <a:srgbClr val="2563EB"/>
                </a:solidFill>
              </a:defRPr>
            </a:pPr>
            <a:r>
              <a:t>Smart Disaster Management &amp; Aerial Drone Reconnaissance Cloud Platform</a:t>
            </a:r>
          </a:p>
          <a:p>
            <a:pPr>
              <a:defRPr sz="1200">
                <a:solidFill>
                  <a:srgbClr val="475569"/>
                </a:solidFill>
              </a:defRPr>
            </a:pPr>
            <a:r>
              <a:t>A Serverless Cloud Architecture Integrating Autonomous UAV Telemetry, Computer Vision AI &amp; Real-time GIS Triage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lgn="l">
              <a:defRPr sz="3000" b="1">
                <a:solidFill>
                  <a:srgbClr val="1B4332"/>
                </a:solidFill>
              </a:defRPr>
            </a:pPr>
            <a:r>
              <a:t>Problem Statement and Motivation</a:t>
            </a:r>
          </a:p>
        </p:txBody>
      </p:sp>
      <p:sp>
        <p:nvSpPr>
          <p:cNvPr id="3" name="TextBox 2"/>
          <p:cNvSpPr txBox="1"/>
          <p:nvPr/>
        </p:nvSpPr>
        <p:spPr>
          <a:xfrm>
            <a:off x="731520" y="6309360"/>
            <a:ext cx="9601200" cy="365760"/>
          </a:xfrm>
          <a:prstGeom prst="rect">
            <a:avLst/>
          </a:prstGeom>
          <a:noFill/>
        </p:spPr>
        <p:txBody>
          <a:bodyPr wrap="none">
            <a:spAutoFit/>
          </a:bodyPr>
          <a:lstStyle/>
          <a:p>
            <a:pPr>
              <a:defRPr sz="1100">
                <a:solidFill>
                  <a:srgbClr val="475569"/>
                </a:solidFill>
              </a:defRPr>
            </a:pPr>
            <a:r>
              <a:t>ECA4PE23A Cloud Computing | B.Tech ECE (AIML) | DoEEE, MIT-WPU | AY 2026-27</a:t>
            </a:r>
          </a:p>
        </p:txBody>
      </p:sp>
      <p:sp>
        <p:nvSpPr>
          <p:cNvPr id="4" name="TextBox 3"/>
          <p:cNvSpPr txBox="1"/>
          <p:nvPr/>
        </p:nvSpPr>
        <p:spPr>
          <a:xfrm>
            <a:off x="10789920" y="6309360"/>
            <a:ext cx="731520" cy="365760"/>
          </a:xfrm>
          <a:prstGeom prst="rect">
            <a:avLst/>
          </a:prstGeom>
          <a:noFill/>
        </p:spPr>
        <p:txBody>
          <a:bodyPr wrap="none">
            <a:spAutoFit/>
          </a:bodyPr>
          <a:lstStyle/>
          <a:p>
            <a:pPr algn="r">
              <a:defRPr sz="1100" b="1">
                <a:solidFill>
                  <a:srgbClr val="475569"/>
                </a:solidFill>
              </a:defRPr>
            </a:pPr>
            <a:r>
              <a:t>3</a:t>
            </a:r>
          </a:p>
        </p:txBody>
      </p:sp>
      <p:sp>
        <p:nvSpPr>
          <p:cNvPr id="5" name="Rounded Rectangle 4"/>
          <p:cNvSpPr/>
          <p:nvPr/>
        </p:nvSpPr>
        <p:spPr>
          <a:xfrm>
            <a:off x="731520" y="1463040"/>
            <a:ext cx="6217920" cy="448056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5669280" cy="4114800"/>
          </a:xfrm>
          <a:prstGeom prst="rect">
            <a:avLst/>
          </a:prstGeom>
          <a:noFill/>
        </p:spPr>
        <p:txBody>
          <a:bodyPr wrap="square">
            <a:spAutoFit/>
          </a:bodyPr>
          <a:lstStyle/>
          <a:p>
            <a:pPr>
              <a:defRPr b="1" sz="2000">
                <a:solidFill>
                  <a:srgbClr val="1B4332"/>
                </a:solidFill>
              </a:defRPr>
            </a:pPr>
            <a:r>
              <a:t>Problem Statement</a:t>
            </a:r>
          </a:p>
          <a:p>
            <a:br/>
            <a:pPr>
              <a:defRPr sz="1300">
                <a:solidFill>
                  <a:srgbClr val="0F172A"/>
                </a:solidFill>
              </a:defRPr>
            </a:pPr>
            <a:r>
              <a:t>During natural disasters such as urban floods, earthquakes, and structural collapses, ground transportation corridors are severed and local telecommunication lines fail. Emergency response teams currently depend on panicked, imprecise citizen 911 voice calls without visual hazard context or exact coordinates.</a:t>
            </a:r>
          </a:p>
          <a:p>
            <a:br/>
            <a:pPr>
              <a:defRPr sz="1300">
                <a:solidFill>
                  <a:srgbClr val="0F172A"/>
                </a:solidFill>
              </a:defRPr>
            </a:pPr>
            <a:r>
              <a:t>Existing triage systems lack automated aerial surveillance, leading to delayed victim discovery, hazardous blind dispatches, and inefficient resource allocation across disaster zones.</a:t>
            </a:r>
          </a:p>
          <a:p>
            <a:br/>
            <a:pPr>
              <a:defRPr sz="1300" b="1">
                <a:solidFill>
                  <a:srgbClr val="1B4332"/>
                </a:solidFill>
              </a:defRPr>
            </a:pPr>
            <a:r>
              <a:t>Proposed Solution: An autonomous drone reconnaissance payload feeding high-precision telemetry and AI confidence scores into an AWS serverless cloud pipeline with real-time multi-branch dispatch GIS.</a:t>
            </a:r>
          </a:p>
        </p:txBody>
      </p:sp>
      <p:sp>
        <p:nvSpPr>
          <p:cNvPr id="7" name="TextBox 6"/>
          <p:cNvSpPr txBox="1"/>
          <p:nvPr/>
        </p:nvSpPr>
        <p:spPr>
          <a:xfrm>
            <a:off x="7498079" y="1463040"/>
            <a:ext cx="3931920" cy="548640"/>
          </a:xfrm>
          <a:prstGeom prst="rect">
            <a:avLst/>
          </a:prstGeom>
          <a:noFill/>
        </p:spPr>
        <p:txBody>
          <a:bodyPr wrap="none">
            <a:spAutoFit/>
          </a:bodyPr>
          <a:lstStyle/>
          <a:p>
            <a:pPr>
              <a:defRPr b="1" sz="2200">
                <a:solidFill>
                  <a:srgbClr val="1B4332"/>
                </a:solidFill>
              </a:defRPr>
            </a:pPr>
            <a:r>
              <a:t>Why Cloud?</a:t>
            </a:r>
          </a:p>
        </p:txBody>
      </p:sp>
      <p:sp>
        <p:nvSpPr>
          <p:cNvPr id="8" name="Oval 7"/>
          <p:cNvSpPr/>
          <p:nvPr/>
        </p:nvSpPr>
        <p:spPr>
          <a:xfrm>
            <a:off x="7498079" y="2194560"/>
            <a:ext cx="548640" cy="54864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1</a:t>
            </a:r>
          </a:p>
        </p:txBody>
      </p:sp>
      <p:sp>
        <p:nvSpPr>
          <p:cNvPr id="9" name="TextBox 8"/>
          <p:cNvSpPr txBox="1"/>
          <p:nvPr/>
        </p:nvSpPr>
        <p:spPr>
          <a:xfrm>
            <a:off x="8229600" y="2103120"/>
            <a:ext cx="3200400" cy="1188720"/>
          </a:xfrm>
          <a:prstGeom prst="rect">
            <a:avLst/>
          </a:prstGeom>
          <a:noFill/>
        </p:spPr>
        <p:txBody>
          <a:bodyPr wrap="square">
            <a:spAutoFit/>
          </a:bodyPr>
          <a:lstStyle/>
          <a:p>
            <a:pPr>
              <a:defRPr b="1" sz="1400">
                <a:solidFill>
                  <a:srgbClr val="0F172A"/>
                </a:solidFill>
              </a:defRPr>
            </a:pPr>
            <a:r>
              <a:t>Scalable on Demand</a:t>
            </a:r>
          </a:p>
          <a:p>
            <a:pPr>
              <a:defRPr sz="1100">
                <a:solidFill>
                  <a:srgbClr val="475569"/>
                </a:solidFill>
              </a:defRPr>
            </a:pPr>
            <a:r>
              <a:t>Elastic serverless ingestion handles sudden surges during large-scale disasters without manual server provisioning or bottlenecking.</a:t>
            </a:r>
          </a:p>
        </p:txBody>
      </p:sp>
      <p:sp>
        <p:nvSpPr>
          <p:cNvPr id="10" name="Oval 9"/>
          <p:cNvSpPr/>
          <p:nvPr/>
        </p:nvSpPr>
        <p:spPr>
          <a:xfrm>
            <a:off x="7498079" y="3474720"/>
            <a:ext cx="548640" cy="54864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2</a:t>
            </a:r>
          </a:p>
        </p:txBody>
      </p:sp>
      <p:sp>
        <p:nvSpPr>
          <p:cNvPr id="11" name="TextBox 10"/>
          <p:cNvSpPr txBox="1"/>
          <p:nvPr/>
        </p:nvSpPr>
        <p:spPr>
          <a:xfrm>
            <a:off x="8229600" y="3383280"/>
            <a:ext cx="3200400" cy="1188720"/>
          </a:xfrm>
          <a:prstGeom prst="rect">
            <a:avLst/>
          </a:prstGeom>
          <a:noFill/>
        </p:spPr>
        <p:txBody>
          <a:bodyPr wrap="square">
            <a:spAutoFit/>
          </a:bodyPr>
          <a:lstStyle/>
          <a:p>
            <a:pPr>
              <a:defRPr b="1" sz="1400">
                <a:solidFill>
                  <a:srgbClr val="0F172A"/>
                </a:solidFill>
              </a:defRPr>
            </a:pPr>
            <a:r>
              <a:t>Pay-as-You-Go Cost</a:t>
            </a:r>
          </a:p>
          <a:p>
            <a:pPr>
              <a:defRPr sz="1100">
                <a:solidFill>
                  <a:srgbClr val="475569"/>
                </a:solidFill>
              </a:defRPr>
            </a:pPr>
            <a:r>
              <a:t>Zero idle operational expenses. AWS Lambda, DynamoDB, and S3 execute 100% within AWS Free Tier for ₹0.00 baseline cost.</a:t>
            </a:r>
          </a:p>
        </p:txBody>
      </p:sp>
      <p:sp>
        <p:nvSpPr>
          <p:cNvPr id="12" name="Oval 11"/>
          <p:cNvSpPr/>
          <p:nvPr/>
        </p:nvSpPr>
        <p:spPr>
          <a:xfrm>
            <a:off x="7498079" y="4754879"/>
            <a:ext cx="548640" cy="54864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3</a:t>
            </a:r>
          </a:p>
        </p:txBody>
      </p:sp>
      <p:sp>
        <p:nvSpPr>
          <p:cNvPr id="13" name="TextBox 12"/>
          <p:cNvSpPr txBox="1"/>
          <p:nvPr/>
        </p:nvSpPr>
        <p:spPr>
          <a:xfrm>
            <a:off x="8229600" y="4663439"/>
            <a:ext cx="3200400" cy="1188720"/>
          </a:xfrm>
          <a:prstGeom prst="rect">
            <a:avLst/>
          </a:prstGeom>
          <a:noFill/>
        </p:spPr>
        <p:txBody>
          <a:bodyPr wrap="square">
            <a:spAutoFit/>
          </a:bodyPr>
          <a:lstStyle/>
          <a:p>
            <a:pPr>
              <a:defRPr b="1" sz="1400">
                <a:solidFill>
                  <a:srgbClr val="0F172A"/>
                </a:solidFill>
              </a:defRPr>
            </a:pPr>
            <a:r>
              <a:t>High Availability &amp; Access</a:t>
            </a:r>
          </a:p>
          <a:p>
            <a:pPr>
              <a:defRPr sz="1100">
                <a:solidFill>
                  <a:srgbClr val="475569"/>
                </a:solidFill>
              </a:defRPr>
            </a:pPr>
            <a:r>
              <a:t>Multi-AZ regional redundancy ensures 99.95% uptime with universal cross-device access for field rescue squads.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lgn="l">
              <a:defRPr sz="3000" b="1">
                <a:solidFill>
                  <a:srgbClr val="1B4332"/>
                </a:solidFill>
              </a:defRPr>
            </a:pPr>
            <a:r>
              <a:t>Objectives and Course Outcomes</a:t>
            </a:r>
          </a:p>
        </p:txBody>
      </p:sp>
      <p:sp>
        <p:nvSpPr>
          <p:cNvPr id="3" name="TextBox 2"/>
          <p:cNvSpPr txBox="1"/>
          <p:nvPr/>
        </p:nvSpPr>
        <p:spPr>
          <a:xfrm>
            <a:off x="731520" y="6309360"/>
            <a:ext cx="9601200" cy="365760"/>
          </a:xfrm>
          <a:prstGeom prst="rect">
            <a:avLst/>
          </a:prstGeom>
          <a:noFill/>
        </p:spPr>
        <p:txBody>
          <a:bodyPr wrap="none">
            <a:spAutoFit/>
          </a:bodyPr>
          <a:lstStyle/>
          <a:p>
            <a:pPr>
              <a:defRPr sz="1100">
                <a:solidFill>
                  <a:srgbClr val="475569"/>
                </a:solidFill>
              </a:defRPr>
            </a:pPr>
            <a:r>
              <a:t>ECA4PE23A Cloud Computing | B.Tech ECE (AIML) | DoEEE, MIT-WPU | AY 2026-27</a:t>
            </a:r>
          </a:p>
        </p:txBody>
      </p:sp>
      <p:sp>
        <p:nvSpPr>
          <p:cNvPr id="4" name="TextBox 3"/>
          <p:cNvSpPr txBox="1"/>
          <p:nvPr/>
        </p:nvSpPr>
        <p:spPr>
          <a:xfrm>
            <a:off x="10789920" y="6309360"/>
            <a:ext cx="731520" cy="365760"/>
          </a:xfrm>
          <a:prstGeom prst="rect">
            <a:avLst/>
          </a:prstGeom>
          <a:noFill/>
        </p:spPr>
        <p:txBody>
          <a:bodyPr wrap="none">
            <a:spAutoFit/>
          </a:bodyPr>
          <a:lstStyle/>
          <a:p>
            <a:pPr algn="r">
              <a:defRPr sz="1100" b="1">
                <a:solidFill>
                  <a:srgbClr val="475569"/>
                </a:solidFill>
              </a:defRPr>
            </a:pPr>
            <a:r>
              <a:t>4</a:t>
            </a:r>
          </a:p>
        </p:txBody>
      </p:sp>
      <p:sp>
        <p:nvSpPr>
          <p:cNvPr id="5" name="Oval 4"/>
          <p:cNvSpPr/>
          <p:nvPr/>
        </p:nvSpPr>
        <p:spPr>
          <a:xfrm>
            <a:off x="731520" y="1463040"/>
            <a:ext cx="548640" cy="54864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1</a:t>
            </a:r>
          </a:p>
        </p:txBody>
      </p:sp>
      <p:sp>
        <p:nvSpPr>
          <p:cNvPr id="6" name="TextBox 5"/>
          <p:cNvSpPr txBox="1"/>
          <p:nvPr/>
        </p:nvSpPr>
        <p:spPr>
          <a:xfrm>
            <a:off x="1463040" y="1417320"/>
            <a:ext cx="5486400" cy="1371600"/>
          </a:xfrm>
          <a:prstGeom prst="rect">
            <a:avLst/>
          </a:prstGeom>
          <a:noFill/>
        </p:spPr>
        <p:txBody>
          <a:bodyPr wrap="square">
            <a:spAutoFit/>
          </a:bodyPr>
          <a:lstStyle/>
          <a:p>
            <a:pPr>
              <a:defRPr b="1" sz="1500">
                <a:solidFill>
                  <a:srgbClr val="1B4332"/>
                </a:solidFill>
              </a:defRPr>
            </a:pPr>
            <a:r>
              <a:t>Design a Serverless Cloud Architecture</a:t>
            </a:r>
          </a:p>
          <a:p>
            <a:pPr>
              <a:defRPr sz="1150">
                <a:solidFill>
                  <a:srgbClr val="0F172A"/>
                </a:solidFill>
              </a:defRPr>
            </a:pPr>
            <a:r>
              <a:t>Architect an event-driven serverless disaster data pipeline on AWS using API Gateway, Lambda (Python 3.11), DynamoDB NoSQL, and S3 evidence storage with zero idle overhead.</a:t>
            </a:r>
          </a:p>
        </p:txBody>
      </p:sp>
      <p:sp>
        <p:nvSpPr>
          <p:cNvPr id="7" name="Oval 6"/>
          <p:cNvSpPr/>
          <p:nvPr/>
        </p:nvSpPr>
        <p:spPr>
          <a:xfrm>
            <a:off x="731520" y="2926080"/>
            <a:ext cx="548640" cy="54864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2</a:t>
            </a:r>
          </a:p>
        </p:txBody>
      </p:sp>
      <p:sp>
        <p:nvSpPr>
          <p:cNvPr id="8" name="TextBox 7"/>
          <p:cNvSpPr txBox="1"/>
          <p:nvPr/>
        </p:nvSpPr>
        <p:spPr>
          <a:xfrm>
            <a:off x="1463040" y="2880360"/>
            <a:ext cx="5486400" cy="1371600"/>
          </a:xfrm>
          <a:prstGeom prst="rect">
            <a:avLst/>
          </a:prstGeom>
          <a:noFill/>
        </p:spPr>
        <p:txBody>
          <a:bodyPr wrap="square">
            <a:spAutoFit/>
          </a:bodyPr>
          <a:lstStyle/>
          <a:p>
            <a:pPr>
              <a:defRPr b="1" sz="1500">
                <a:solidFill>
                  <a:srgbClr val="1B4332"/>
                </a:solidFill>
              </a:defRPr>
            </a:pPr>
            <a:r>
              <a:t>Deploy Edge Drone Optical Reconnaissance</a:t>
            </a:r>
          </a:p>
          <a:p>
            <a:pPr>
              <a:defRPr sz="1150">
                <a:solidFill>
                  <a:srgbClr val="0F172A"/>
                </a:solidFill>
              </a:defRPr>
            </a:pPr>
            <a:r>
              <a:t>Build a WebRTC-enabled UAV camera unit with touch/auto targeting reticle, simulated aerial video, real-time AI confidence scoring (96.8%), and satellite GPS tagging.</a:t>
            </a:r>
          </a:p>
        </p:txBody>
      </p:sp>
      <p:sp>
        <p:nvSpPr>
          <p:cNvPr id="9" name="Oval 8"/>
          <p:cNvSpPr/>
          <p:nvPr/>
        </p:nvSpPr>
        <p:spPr>
          <a:xfrm>
            <a:off x="731520" y="4389120"/>
            <a:ext cx="548640" cy="54864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3</a:t>
            </a:r>
          </a:p>
        </p:txBody>
      </p:sp>
      <p:sp>
        <p:nvSpPr>
          <p:cNvPr id="10" name="TextBox 9"/>
          <p:cNvSpPr txBox="1"/>
          <p:nvPr/>
        </p:nvSpPr>
        <p:spPr>
          <a:xfrm>
            <a:off x="1463040" y="4343400"/>
            <a:ext cx="5486400" cy="1371600"/>
          </a:xfrm>
          <a:prstGeom prst="rect">
            <a:avLst/>
          </a:prstGeom>
          <a:noFill/>
        </p:spPr>
        <p:txBody>
          <a:bodyPr wrap="square">
            <a:spAutoFit/>
          </a:bodyPr>
          <a:lstStyle/>
          <a:p>
            <a:pPr>
              <a:defRPr b="1" sz="1500">
                <a:solidFill>
                  <a:srgbClr val="1B4332"/>
                </a:solidFill>
              </a:defRPr>
            </a:pPr>
            <a:r>
              <a:t>Evaluate Latency, Availability and Cost</a:t>
            </a:r>
          </a:p>
          <a:p>
            <a:pPr>
              <a:defRPr sz="1150">
                <a:solidFill>
                  <a:srgbClr val="0F172A"/>
                </a:solidFill>
              </a:defRPr>
            </a:pPr>
            <a:r>
              <a:t>Benchmark sub-100ms end-to-end cloud ingestion latency, validate multi-AZ high availability (99.95%), and prove 100% Free Tier zero-dollar operational sustainability.</a:t>
            </a:r>
          </a:p>
        </p:txBody>
      </p:sp>
      <p:sp>
        <p:nvSpPr>
          <p:cNvPr id="11" name="Rounded Rectangle 10"/>
          <p:cNvSpPr/>
          <p:nvPr/>
        </p:nvSpPr>
        <p:spPr>
          <a:xfrm>
            <a:off x="7315200" y="1463040"/>
            <a:ext cx="4114800" cy="438912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645920"/>
            <a:ext cx="3657600" cy="4023360"/>
          </a:xfrm>
          <a:prstGeom prst="rect">
            <a:avLst/>
          </a:prstGeom>
          <a:noFill/>
        </p:spPr>
        <p:txBody>
          <a:bodyPr wrap="square">
            <a:spAutoFit/>
          </a:bodyPr>
          <a:lstStyle/>
          <a:p>
            <a:pPr>
              <a:defRPr b="1" sz="1800">
                <a:solidFill>
                  <a:srgbClr val="1B4332"/>
                </a:solidFill>
              </a:defRPr>
            </a:pPr>
            <a:r>
              <a:t>Course Outcomes Addressed</a:t>
            </a:r>
          </a:p>
          <a:p>
            <a:br/>
            <a:pPr>
              <a:defRPr b="1" sz="1200">
                <a:solidFill>
                  <a:srgbClr val="0F172A"/>
                </a:solidFill>
              </a:defRPr>
            </a:pPr>
            <a:r>
              <a:t>• CO1: Cloud Paradigms &amp; Models:</a:t>
            </a:r>
          </a:p>
          <a:p>
            <a:pPr>
              <a:defRPr sz="1100">
                <a:solidFill>
                  <a:srgbClr val="475569"/>
                </a:solidFill>
              </a:defRPr>
            </a:pPr>
            <a:r>
              <a:t>Analyzed and selected Serverless (FaaS) and NoSQL DBaaS over traditional IaaS VMs to guarantee zero idle power and infinite emergency elasticity.</a:t>
            </a:r>
          </a:p>
          <a:p>
            <a:br/>
            <a:pPr>
              <a:defRPr b="1" sz="1200">
                <a:solidFill>
                  <a:srgbClr val="0F172A"/>
                </a:solidFill>
              </a:defRPr>
            </a:pPr>
            <a:r>
              <a:t>• CO2: Cloud Application Deployment:</a:t>
            </a:r>
          </a:p>
          <a:p>
            <a:pPr>
              <a:defRPr sz="1100">
                <a:solidFill>
                  <a:srgbClr val="475569"/>
                </a:solidFill>
              </a:defRPr>
            </a:pPr>
            <a:r>
              <a:t>Engineered and deployed scalable cloud services using AWS Lambda, DynamoDB, API Gateway, S3, and AWS Amplify static edge distribution.</a:t>
            </a:r>
          </a:p>
          <a:p>
            <a:br/>
            <a:pPr>
              <a:defRPr b="1" sz="1200">
                <a:solidFill>
                  <a:srgbClr val="0F172A"/>
                </a:solidFill>
              </a:defRPr>
            </a:pPr>
            <a:r>
              <a:t>• CO3: Performance, Security &amp; Cost:</a:t>
            </a:r>
          </a:p>
          <a:p>
            <a:pPr>
              <a:defRPr sz="1100">
                <a:solidFill>
                  <a:srgbClr val="475569"/>
                </a:solidFill>
              </a:defRPr>
            </a:pPr>
            <a:r>
              <a:t>Formulated IAM least-privilege security roles, enforced CORS headers, instrumented CloudWatch latency logs, and achieved ₹0.00 Free Tier execution.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lgn="l">
              <a:defRPr sz="3000" b="1">
                <a:solidFill>
                  <a:srgbClr val="1B4332"/>
                </a:solidFill>
              </a:defRPr>
            </a:pPr>
            <a:r>
              <a:t>Cloud Services and Technologies Used</a:t>
            </a:r>
          </a:p>
        </p:txBody>
      </p:sp>
      <p:sp>
        <p:nvSpPr>
          <p:cNvPr id="3" name="TextBox 2"/>
          <p:cNvSpPr txBox="1"/>
          <p:nvPr/>
        </p:nvSpPr>
        <p:spPr>
          <a:xfrm>
            <a:off x="731520" y="6309360"/>
            <a:ext cx="9601200" cy="365760"/>
          </a:xfrm>
          <a:prstGeom prst="rect">
            <a:avLst/>
          </a:prstGeom>
          <a:noFill/>
        </p:spPr>
        <p:txBody>
          <a:bodyPr wrap="none">
            <a:spAutoFit/>
          </a:bodyPr>
          <a:lstStyle/>
          <a:p>
            <a:pPr>
              <a:defRPr sz="1100">
                <a:solidFill>
                  <a:srgbClr val="475569"/>
                </a:solidFill>
              </a:defRPr>
            </a:pPr>
            <a:r>
              <a:t>ECA4PE23A Cloud Computing | B.Tech ECE (AIML) | DoEEE, MIT-WPU | AY 2026-27</a:t>
            </a:r>
          </a:p>
        </p:txBody>
      </p:sp>
      <p:sp>
        <p:nvSpPr>
          <p:cNvPr id="4" name="TextBox 3"/>
          <p:cNvSpPr txBox="1"/>
          <p:nvPr/>
        </p:nvSpPr>
        <p:spPr>
          <a:xfrm>
            <a:off x="10789920" y="6309360"/>
            <a:ext cx="731520" cy="365760"/>
          </a:xfrm>
          <a:prstGeom prst="rect">
            <a:avLst/>
          </a:prstGeom>
          <a:noFill/>
        </p:spPr>
        <p:txBody>
          <a:bodyPr wrap="none">
            <a:spAutoFit/>
          </a:bodyPr>
          <a:lstStyle/>
          <a:p>
            <a:pPr algn="r">
              <a:defRPr sz="1100" b="1">
                <a:solidFill>
                  <a:srgbClr val="475569"/>
                </a:solidFill>
              </a:defRPr>
            </a:pPr>
            <a:r>
              <a:t>5</a:t>
            </a:r>
          </a:p>
        </p:txBody>
      </p:sp>
      <p:sp>
        <p:nvSpPr>
          <p:cNvPr id="5" name="Rounded Rectangle 4"/>
          <p:cNvSpPr/>
          <p:nvPr/>
        </p:nvSpPr>
        <p:spPr>
          <a:xfrm>
            <a:off x="731520" y="1463040"/>
            <a:ext cx="3383280" cy="457200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103120" y="1645920"/>
            <a:ext cx="548640" cy="54864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1</a:t>
            </a:r>
          </a:p>
        </p:txBody>
      </p:sp>
      <p:sp>
        <p:nvSpPr>
          <p:cNvPr id="7" name="TextBox 6"/>
          <p:cNvSpPr txBox="1"/>
          <p:nvPr/>
        </p:nvSpPr>
        <p:spPr>
          <a:xfrm>
            <a:off x="914400" y="2286000"/>
            <a:ext cx="3017520" cy="3566160"/>
          </a:xfrm>
          <a:prstGeom prst="rect">
            <a:avLst/>
          </a:prstGeom>
          <a:noFill/>
        </p:spPr>
        <p:txBody>
          <a:bodyPr wrap="square">
            <a:spAutoFit/>
          </a:bodyPr>
          <a:lstStyle/>
          <a:p>
            <a:pPr algn="ctr">
              <a:defRPr b="1" sz="1600">
                <a:solidFill>
                  <a:srgbClr val="1B4332"/>
                </a:solidFill>
              </a:defRPr>
            </a:pPr>
            <a:r>
              <a:t>Compute &amp; Hosting</a:t>
            </a:r>
          </a:p>
          <a:p>
            <a:br/>
            <a:pPr>
              <a:defRPr b="1" sz="1100">
                <a:solidFill>
                  <a:srgbClr val="0F172A"/>
                </a:solidFill>
              </a:defRPr>
            </a:pPr>
            <a:r>
              <a:t>• AWS Lambda (Python 3.11):</a:t>
            </a:r>
          </a:p>
          <a:p>
            <a:pPr>
              <a:defRPr sz="1000">
                <a:solidFill>
                  <a:srgbClr val="475569"/>
                </a:solidFill>
              </a:defRPr>
            </a:pPr>
            <a:r>
              <a:t>Serverless event execution triggered by HTTP REST payloads.</a:t>
            </a:r>
          </a:p>
          <a:p>
            <a:br/>
            <a:pPr>
              <a:defRPr b="1" sz="1100">
                <a:solidFill>
                  <a:srgbClr val="0F172A"/>
                </a:solidFill>
              </a:defRPr>
            </a:pPr>
            <a:r>
              <a:t>• AWS Amplify Hosting:</a:t>
            </a:r>
          </a:p>
          <a:p>
            <a:pPr>
              <a:defRPr sz="1000">
                <a:solidFill>
                  <a:srgbClr val="475569"/>
                </a:solidFill>
              </a:defRPr>
            </a:pPr>
            <a:r>
              <a:t>Globally distributed static edge hosting for WebRTC &amp; Dashboard.</a:t>
            </a:r>
          </a:p>
          <a:p>
            <a:br/>
            <a:pPr>
              <a:defRPr b="1" sz="1100">
                <a:solidFill>
                  <a:srgbClr val="0F172A"/>
                </a:solidFill>
              </a:defRPr>
            </a:pPr>
            <a:r>
              <a:t>• Python Local Server:</a:t>
            </a:r>
          </a:p>
          <a:p>
            <a:pPr>
              <a:defRPr sz="1000">
                <a:solidFill>
                  <a:srgbClr val="475569"/>
                </a:solidFill>
              </a:defRPr>
            </a:pPr>
            <a:r>
              <a:t>Multi-threaded offline fallback mock server running on port 5001.</a:t>
            </a:r>
          </a:p>
        </p:txBody>
      </p:sp>
      <p:sp>
        <p:nvSpPr>
          <p:cNvPr id="8" name="Rounded Rectangle 7"/>
          <p:cNvSpPr/>
          <p:nvPr/>
        </p:nvSpPr>
        <p:spPr>
          <a:xfrm>
            <a:off x="4389120" y="1463040"/>
            <a:ext cx="3383280" cy="457200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760720" y="1645920"/>
            <a:ext cx="548640" cy="54864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2</a:t>
            </a:r>
          </a:p>
        </p:txBody>
      </p:sp>
      <p:sp>
        <p:nvSpPr>
          <p:cNvPr id="10" name="TextBox 9"/>
          <p:cNvSpPr txBox="1"/>
          <p:nvPr/>
        </p:nvSpPr>
        <p:spPr>
          <a:xfrm>
            <a:off x="4572000" y="2286000"/>
            <a:ext cx="3017520" cy="3566160"/>
          </a:xfrm>
          <a:prstGeom prst="rect">
            <a:avLst/>
          </a:prstGeom>
          <a:noFill/>
        </p:spPr>
        <p:txBody>
          <a:bodyPr wrap="square">
            <a:spAutoFit/>
          </a:bodyPr>
          <a:lstStyle/>
          <a:p>
            <a:pPr algn="ctr">
              <a:defRPr b="1" sz="1600">
                <a:solidFill>
                  <a:srgbClr val="1B4332"/>
                </a:solidFill>
              </a:defRPr>
            </a:pPr>
            <a:r>
              <a:t>Storage &amp; Database</a:t>
            </a:r>
          </a:p>
          <a:p>
            <a:br/>
            <a:pPr>
              <a:defRPr b="1" sz="1100">
                <a:solidFill>
                  <a:srgbClr val="0F172A"/>
                </a:solidFill>
              </a:defRPr>
            </a:pPr>
            <a:r>
              <a:t>• Amazon DynamoDB:</a:t>
            </a:r>
          </a:p>
          <a:p>
            <a:pPr>
              <a:defRPr sz="1000">
                <a:solidFill>
                  <a:srgbClr val="475569"/>
                </a:solidFill>
              </a:defRPr>
            </a:pPr>
            <a:r>
              <a:t>NoSQL high-throughput table indexing victim IDs, coordinates, and state.</a:t>
            </a:r>
          </a:p>
          <a:p>
            <a:br/>
            <a:pPr>
              <a:defRPr b="1" sz="1100">
                <a:solidFill>
                  <a:srgbClr val="0F172A"/>
                </a:solidFill>
              </a:defRPr>
            </a:pPr>
            <a:r>
              <a:t>• Amazon S3 Bucket:</a:t>
            </a:r>
          </a:p>
          <a:p>
            <a:pPr>
              <a:defRPr sz="1000">
                <a:solidFill>
                  <a:srgbClr val="475569"/>
                </a:solidFill>
              </a:defRPr>
            </a:pPr>
            <a:r>
              <a:t>Durable object storage housing drone evidence photos and video streams.</a:t>
            </a:r>
          </a:p>
          <a:p>
            <a:br/>
            <a:pPr>
              <a:defRPr b="1" sz="1100">
                <a:solidFill>
                  <a:srgbClr val="0F172A"/>
                </a:solidFill>
              </a:defRPr>
            </a:pPr>
            <a:r>
              <a:t>• S3 Pre-Signed URLs:</a:t>
            </a:r>
          </a:p>
          <a:p>
            <a:pPr>
              <a:defRPr sz="1000">
                <a:solidFill>
                  <a:srgbClr val="475569"/>
                </a:solidFill>
              </a:defRPr>
            </a:pPr>
            <a:r>
              <a:t>Cryptographically signed temporary URLs for secure asset inspection.</a:t>
            </a:r>
          </a:p>
        </p:txBody>
      </p:sp>
      <p:sp>
        <p:nvSpPr>
          <p:cNvPr id="11" name="Rounded Rectangle 10"/>
          <p:cNvSpPr/>
          <p:nvPr/>
        </p:nvSpPr>
        <p:spPr>
          <a:xfrm>
            <a:off x="8046720" y="1463040"/>
            <a:ext cx="3383280" cy="457200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418320" y="1645920"/>
            <a:ext cx="548640" cy="54864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3</a:t>
            </a:r>
          </a:p>
        </p:txBody>
      </p:sp>
      <p:sp>
        <p:nvSpPr>
          <p:cNvPr id="13" name="TextBox 12"/>
          <p:cNvSpPr txBox="1"/>
          <p:nvPr/>
        </p:nvSpPr>
        <p:spPr>
          <a:xfrm>
            <a:off x="8229600" y="2286000"/>
            <a:ext cx="3017520" cy="3566160"/>
          </a:xfrm>
          <a:prstGeom prst="rect">
            <a:avLst/>
          </a:prstGeom>
          <a:noFill/>
        </p:spPr>
        <p:txBody>
          <a:bodyPr wrap="square">
            <a:spAutoFit/>
          </a:bodyPr>
          <a:lstStyle/>
          <a:p>
            <a:pPr algn="ctr">
              <a:defRPr b="1" sz="1600">
                <a:solidFill>
                  <a:srgbClr val="1B4332"/>
                </a:solidFill>
              </a:defRPr>
            </a:pPr>
            <a:r>
              <a:t>DevOps, AI &amp; Security</a:t>
            </a:r>
          </a:p>
          <a:p>
            <a:br/>
            <a:pPr>
              <a:defRPr b="1" sz="1100">
                <a:solidFill>
                  <a:srgbClr val="0F172A"/>
                </a:solidFill>
              </a:defRPr>
            </a:pPr>
            <a:r>
              <a:t>• Amazon API Gateway:</a:t>
            </a:r>
          </a:p>
          <a:p>
            <a:pPr>
              <a:defRPr sz="1000">
                <a:solidFill>
                  <a:srgbClr val="475569"/>
                </a:solidFill>
              </a:defRPr>
            </a:pPr>
            <a:r>
              <a:t>Managed HTTPS REST endpoint with CORS pre-flight validation.</a:t>
            </a:r>
          </a:p>
          <a:p>
            <a:br/>
            <a:pPr>
              <a:defRPr b="1" sz="1100">
                <a:solidFill>
                  <a:srgbClr val="0F172A"/>
                </a:solidFill>
              </a:defRPr>
            </a:pPr>
            <a:r>
              <a:t>• Amazon SNS / Rekognition:</a:t>
            </a:r>
          </a:p>
          <a:p>
            <a:pPr>
              <a:defRPr sz="1000">
                <a:solidFill>
                  <a:srgbClr val="475569"/>
                </a:solidFill>
              </a:defRPr>
            </a:pPr>
            <a:r>
              <a:t>Multi-channel SMS/Email broadcasts &amp; AI person detection scoring.</a:t>
            </a:r>
          </a:p>
          <a:p>
            <a:br/>
            <a:pPr>
              <a:defRPr b="1" sz="1100">
                <a:solidFill>
                  <a:srgbClr val="0F172A"/>
                </a:solidFill>
              </a:defRPr>
            </a:pPr>
            <a:r>
              <a:t>• AWS IAM &amp; CloudWatch:</a:t>
            </a:r>
          </a:p>
          <a:p>
            <a:pPr>
              <a:defRPr sz="1000">
                <a:solidFill>
                  <a:srgbClr val="475569"/>
                </a:solidFill>
              </a:defRPr>
            </a:pPr>
            <a:r>
              <a:t>Granular role-based execution permissions &amp; telemetry metrics.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lgn="l">
              <a:defRPr sz="3000" b="1">
                <a:solidFill>
                  <a:srgbClr val="1B4332"/>
                </a:solidFill>
              </a:defRPr>
            </a:pPr>
            <a:r>
              <a:t>System Architecture</a:t>
            </a:r>
          </a:p>
        </p:txBody>
      </p:sp>
      <p:sp>
        <p:nvSpPr>
          <p:cNvPr id="3" name="TextBox 2"/>
          <p:cNvSpPr txBox="1"/>
          <p:nvPr/>
        </p:nvSpPr>
        <p:spPr>
          <a:xfrm>
            <a:off x="731520" y="6309360"/>
            <a:ext cx="9601200" cy="365760"/>
          </a:xfrm>
          <a:prstGeom prst="rect">
            <a:avLst/>
          </a:prstGeom>
          <a:noFill/>
        </p:spPr>
        <p:txBody>
          <a:bodyPr wrap="none">
            <a:spAutoFit/>
          </a:bodyPr>
          <a:lstStyle/>
          <a:p>
            <a:pPr>
              <a:defRPr sz="1100">
                <a:solidFill>
                  <a:srgbClr val="475569"/>
                </a:solidFill>
              </a:defRPr>
            </a:pPr>
            <a:r>
              <a:t>ECA4PE23A Cloud Computing | B.Tech ECE (AIML) | DoEEE, MIT-WPU | AY 2026-27</a:t>
            </a:r>
          </a:p>
        </p:txBody>
      </p:sp>
      <p:sp>
        <p:nvSpPr>
          <p:cNvPr id="4" name="TextBox 3"/>
          <p:cNvSpPr txBox="1"/>
          <p:nvPr/>
        </p:nvSpPr>
        <p:spPr>
          <a:xfrm>
            <a:off x="10789920" y="6309360"/>
            <a:ext cx="731520" cy="365760"/>
          </a:xfrm>
          <a:prstGeom prst="rect">
            <a:avLst/>
          </a:prstGeom>
          <a:noFill/>
        </p:spPr>
        <p:txBody>
          <a:bodyPr wrap="none">
            <a:spAutoFit/>
          </a:bodyPr>
          <a:lstStyle/>
          <a:p>
            <a:pPr algn="r">
              <a:defRPr sz="1100" b="1">
                <a:solidFill>
                  <a:srgbClr val="475569"/>
                </a:solidFill>
              </a:defRPr>
            </a:pPr>
            <a:r>
              <a:t>6</a:t>
            </a:r>
          </a:p>
        </p:txBody>
      </p:sp>
      <p:sp>
        <p:nvSpPr>
          <p:cNvPr id="5" name="Rounded Rectangle 4"/>
          <p:cNvSpPr/>
          <p:nvPr/>
        </p:nvSpPr>
        <p:spPr>
          <a:xfrm>
            <a:off x="731520" y="1645920"/>
            <a:ext cx="1828800" cy="1645920"/>
          </a:xfrm>
          <a:prstGeom prst="round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FFFFFF"/>
                </a:solidFill>
              </a:defRPr>
            </a:pPr>
            <a:r>
              <a:t>Drone Recon Unit</a:t>
            </a:r>
            <a:br/>
            <a:r>
              <a:t>(Edge WebRTC HUD)</a:t>
            </a:r>
          </a:p>
        </p:txBody>
      </p:sp>
      <p:sp>
        <p:nvSpPr>
          <p:cNvPr id="6" name="TextBox 5"/>
          <p:cNvSpPr txBox="1"/>
          <p:nvPr/>
        </p:nvSpPr>
        <p:spPr>
          <a:xfrm>
            <a:off x="2560320" y="2194560"/>
            <a:ext cx="365760" cy="548640"/>
          </a:xfrm>
          <a:prstGeom prst="rect">
            <a:avLst/>
          </a:prstGeom>
          <a:noFill/>
        </p:spPr>
        <p:txBody>
          <a:bodyPr wrap="none">
            <a:spAutoFit/>
          </a:bodyPr>
          <a:lstStyle/>
          <a:p>
            <a:pPr algn="ctr">
              <a:defRPr sz="2200" b="1">
                <a:solidFill>
                  <a:srgbClr val="1B4332"/>
                </a:solidFill>
              </a:defRPr>
            </a:pPr>
            <a:r>
              <a:t>➔</a:t>
            </a:r>
          </a:p>
        </p:txBody>
      </p:sp>
      <p:sp>
        <p:nvSpPr>
          <p:cNvPr id="7" name="Rounded Rectangle 6"/>
          <p:cNvSpPr/>
          <p:nvPr/>
        </p:nvSpPr>
        <p:spPr>
          <a:xfrm>
            <a:off x="2926080" y="1645920"/>
            <a:ext cx="1828800" cy="1645920"/>
          </a:xfrm>
          <a:prstGeom prst="round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FFFFFF"/>
                </a:solidFill>
              </a:defRPr>
            </a:pPr>
            <a:r>
              <a:t>Amazon API Gateway</a:t>
            </a:r>
            <a:br/>
            <a:r>
              <a:t>(HTTPS Ingestion)</a:t>
            </a:r>
          </a:p>
        </p:txBody>
      </p:sp>
      <p:sp>
        <p:nvSpPr>
          <p:cNvPr id="8" name="TextBox 7"/>
          <p:cNvSpPr txBox="1"/>
          <p:nvPr/>
        </p:nvSpPr>
        <p:spPr>
          <a:xfrm>
            <a:off x="4754880" y="2194560"/>
            <a:ext cx="365760" cy="548640"/>
          </a:xfrm>
          <a:prstGeom prst="rect">
            <a:avLst/>
          </a:prstGeom>
          <a:noFill/>
        </p:spPr>
        <p:txBody>
          <a:bodyPr wrap="none">
            <a:spAutoFit/>
          </a:bodyPr>
          <a:lstStyle/>
          <a:p>
            <a:pPr algn="ctr">
              <a:defRPr sz="2200" b="1">
                <a:solidFill>
                  <a:srgbClr val="1B4332"/>
                </a:solidFill>
              </a:defRPr>
            </a:pPr>
            <a:r>
              <a:t>➔</a:t>
            </a:r>
          </a:p>
        </p:txBody>
      </p:sp>
      <p:sp>
        <p:nvSpPr>
          <p:cNvPr id="9" name="Rounded Rectangle 8"/>
          <p:cNvSpPr/>
          <p:nvPr/>
        </p:nvSpPr>
        <p:spPr>
          <a:xfrm>
            <a:off x="5120640" y="1645920"/>
            <a:ext cx="1828800" cy="1645920"/>
          </a:xfrm>
          <a:prstGeom prst="round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FFFFFF"/>
                </a:solidFill>
              </a:defRPr>
            </a:pPr>
            <a:r>
              <a:t>AWS Lambda</a:t>
            </a:r>
            <a:br/>
            <a:r>
              <a:t>(Event Logic / Routing)</a:t>
            </a:r>
          </a:p>
        </p:txBody>
      </p:sp>
      <p:sp>
        <p:nvSpPr>
          <p:cNvPr id="10" name="TextBox 9"/>
          <p:cNvSpPr txBox="1"/>
          <p:nvPr/>
        </p:nvSpPr>
        <p:spPr>
          <a:xfrm>
            <a:off x="6949440" y="2194560"/>
            <a:ext cx="365760" cy="548640"/>
          </a:xfrm>
          <a:prstGeom prst="rect">
            <a:avLst/>
          </a:prstGeom>
          <a:noFill/>
        </p:spPr>
        <p:txBody>
          <a:bodyPr wrap="none">
            <a:spAutoFit/>
          </a:bodyPr>
          <a:lstStyle/>
          <a:p>
            <a:pPr algn="ctr">
              <a:defRPr sz="2200" b="1">
                <a:solidFill>
                  <a:srgbClr val="1B4332"/>
                </a:solidFill>
              </a:defRPr>
            </a:pPr>
            <a:r>
              <a:t>➔</a:t>
            </a:r>
          </a:p>
        </p:txBody>
      </p:sp>
      <p:sp>
        <p:nvSpPr>
          <p:cNvPr id="11" name="Rounded Rectangle 10"/>
          <p:cNvSpPr/>
          <p:nvPr/>
        </p:nvSpPr>
        <p:spPr>
          <a:xfrm>
            <a:off x="7315199" y="1645920"/>
            <a:ext cx="1828800" cy="1645920"/>
          </a:xfrm>
          <a:prstGeom prst="round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FFFFFF"/>
                </a:solidFill>
              </a:defRPr>
            </a:pPr>
            <a:r>
              <a:t>DynamoDB &amp; S3</a:t>
            </a:r>
            <a:br/>
            <a:r>
              <a:t>(NoSQL &amp; Media Storage)</a:t>
            </a:r>
          </a:p>
        </p:txBody>
      </p:sp>
      <p:sp>
        <p:nvSpPr>
          <p:cNvPr id="12" name="TextBox 11"/>
          <p:cNvSpPr txBox="1"/>
          <p:nvPr/>
        </p:nvSpPr>
        <p:spPr>
          <a:xfrm>
            <a:off x="9143999" y="2194560"/>
            <a:ext cx="365760" cy="548640"/>
          </a:xfrm>
          <a:prstGeom prst="rect">
            <a:avLst/>
          </a:prstGeom>
          <a:noFill/>
        </p:spPr>
        <p:txBody>
          <a:bodyPr wrap="none">
            <a:spAutoFit/>
          </a:bodyPr>
          <a:lstStyle/>
          <a:p>
            <a:pPr algn="ctr">
              <a:defRPr sz="2200" b="1">
                <a:solidFill>
                  <a:srgbClr val="1B4332"/>
                </a:solidFill>
              </a:defRPr>
            </a:pPr>
            <a:r>
              <a:t>➔</a:t>
            </a:r>
          </a:p>
        </p:txBody>
      </p:sp>
      <p:sp>
        <p:nvSpPr>
          <p:cNvPr id="13" name="Rounded Rectangle 12"/>
          <p:cNvSpPr/>
          <p:nvPr/>
        </p:nvSpPr>
        <p:spPr>
          <a:xfrm>
            <a:off x="9509760" y="1645920"/>
            <a:ext cx="1828800" cy="1645920"/>
          </a:xfrm>
          <a:prstGeom prst="round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FFFFFF"/>
                </a:solidFill>
              </a:defRPr>
            </a:pPr>
            <a:r>
              <a:t>Rescue Operations</a:t>
            </a:r>
            <a:br/>
            <a:r>
              <a:t>(Leaflet GIS Dashboard)</a:t>
            </a:r>
          </a:p>
        </p:txBody>
      </p:sp>
      <p:sp>
        <p:nvSpPr>
          <p:cNvPr id="14" name="Rounded Rectangle 13"/>
          <p:cNvSpPr/>
          <p:nvPr/>
        </p:nvSpPr>
        <p:spPr>
          <a:xfrm>
            <a:off x="731520" y="3657600"/>
            <a:ext cx="10698480" cy="731520"/>
          </a:xfrm>
          <a:prstGeom prst="roundRect">
            <a:avLst/>
          </a:prstGeom>
          <a:solidFill>
            <a:srgbClr val="F1F8F5"/>
          </a:solidFill>
          <a:ln w="1905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749039"/>
            <a:ext cx="10332720" cy="548640"/>
          </a:xfrm>
          <a:prstGeom prst="rect">
            <a:avLst/>
          </a:prstGeom>
          <a:noFill/>
        </p:spPr>
        <p:txBody>
          <a:bodyPr wrap="none">
            <a:spAutoFit/>
          </a:bodyPr>
          <a:lstStyle/>
          <a:p>
            <a:pPr algn="ctr">
              <a:defRPr b="1" sz="1200">
                <a:solidFill>
                  <a:srgbClr val="1B4332"/>
                </a:solidFill>
              </a:defRPr>
            </a:pPr>
            <a:r>
              <a:t>Monitoring: Amazon CloudWatch  |  Security: AWS IAM Least-Privilege  |  Notification: Amazon SNS  |  AI: Amazon Rekognition</a:t>
            </a:r>
          </a:p>
        </p:txBody>
      </p:sp>
      <p:sp>
        <p:nvSpPr>
          <p:cNvPr id="16" name="Rounded Rectangle 15"/>
          <p:cNvSpPr/>
          <p:nvPr/>
        </p:nvSpPr>
        <p:spPr>
          <a:xfrm>
            <a:off x="731520" y="4663440"/>
            <a:ext cx="10698480" cy="13716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754880"/>
            <a:ext cx="10332720" cy="1188720"/>
          </a:xfrm>
          <a:prstGeom prst="rect">
            <a:avLst/>
          </a:prstGeom>
          <a:noFill/>
        </p:spPr>
        <p:txBody>
          <a:bodyPr wrap="square">
            <a:spAutoFit/>
          </a:bodyPr>
          <a:lstStyle/>
          <a:p>
            <a:pPr>
              <a:defRPr b="1" sz="1200">
                <a:solidFill>
                  <a:srgbClr val="1B4332"/>
                </a:solidFill>
              </a:defRPr>
            </a:pPr>
            <a:r>
              <a:t>End-to-End Execution Flow:</a:t>
            </a:r>
          </a:p>
          <a:p>
            <a:pPr>
              <a:defRPr sz="1050">
                <a:solidFill>
                  <a:srgbClr val="0F172A"/>
                </a:solidFill>
              </a:defRPr>
            </a:pPr>
            <a:r>
              <a:t>1. Field Drone Camera records aerial distress video and transmits optical frames with GPS metadata to API Gateway.</a:t>
            </a:r>
            <a:br/>
            <a:r>
              <a:t>2. API Gateway validates request schema and triggers serverless Python AWS Lambda execution in under 20ms.</a:t>
            </a:r>
            <a:br/>
            <a:r>
              <a:t>3. Lambda uploads full-resolution photo to Amazon S3, writes structured record to Amazon DynamoDB, and dispatches SNS alerts.</a:t>
            </a:r>
            <a:br/>
            <a:r>
              <a:t>4. Rescue Command Dashboard polls API Gateway, renders dynamic marker clusters on Leaflet GIS, and computes amphibious/road corridors.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lgn="l">
              <a:defRPr sz="3000" b="1">
                <a:solidFill>
                  <a:srgbClr val="1B4332"/>
                </a:solidFill>
              </a:defRPr>
            </a:pPr>
            <a:r>
              <a:t>Methodology and Implementation Plan</a:t>
            </a:r>
          </a:p>
        </p:txBody>
      </p:sp>
      <p:sp>
        <p:nvSpPr>
          <p:cNvPr id="3" name="TextBox 2"/>
          <p:cNvSpPr txBox="1"/>
          <p:nvPr/>
        </p:nvSpPr>
        <p:spPr>
          <a:xfrm>
            <a:off x="731520" y="6309360"/>
            <a:ext cx="9601200" cy="365760"/>
          </a:xfrm>
          <a:prstGeom prst="rect">
            <a:avLst/>
          </a:prstGeom>
          <a:noFill/>
        </p:spPr>
        <p:txBody>
          <a:bodyPr wrap="none">
            <a:spAutoFit/>
          </a:bodyPr>
          <a:lstStyle/>
          <a:p>
            <a:pPr>
              <a:defRPr sz="1100">
                <a:solidFill>
                  <a:srgbClr val="475569"/>
                </a:solidFill>
              </a:defRPr>
            </a:pPr>
            <a:r>
              <a:t>ECA4PE23A Cloud Computing | B.Tech ECE (AIML) | DoEEE, MIT-WPU | AY 2026-27</a:t>
            </a:r>
          </a:p>
        </p:txBody>
      </p:sp>
      <p:sp>
        <p:nvSpPr>
          <p:cNvPr id="4" name="TextBox 3"/>
          <p:cNvSpPr txBox="1"/>
          <p:nvPr/>
        </p:nvSpPr>
        <p:spPr>
          <a:xfrm>
            <a:off x="10789920" y="6309360"/>
            <a:ext cx="731520" cy="365760"/>
          </a:xfrm>
          <a:prstGeom prst="rect">
            <a:avLst/>
          </a:prstGeom>
          <a:noFill/>
        </p:spPr>
        <p:txBody>
          <a:bodyPr wrap="none">
            <a:spAutoFit/>
          </a:bodyPr>
          <a:lstStyle/>
          <a:p>
            <a:pPr algn="r">
              <a:defRPr sz="1100" b="1">
                <a:solidFill>
                  <a:srgbClr val="475569"/>
                </a:solidFill>
              </a:defRPr>
            </a:pPr>
            <a:r>
              <a:t>7</a:t>
            </a:r>
          </a:p>
        </p:txBody>
      </p:sp>
      <p:sp>
        <p:nvSpPr>
          <p:cNvPr id="5" name="Oval 4"/>
          <p:cNvSpPr/>
          <p:nvPr/>
        </p:nvSpPr>
        <p:spPr>
          <a:xfrm>
            <a:off x="1371600" y="1645920"/>
            <a:ext cx="548640" cy="54864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1</a:t>
            </a:r>
          </a:p>
        </p:txBody>
      </p:sp>
      <p:sp>
        <p:nvSpPr>
          <p:cNvPr id="6" name="TextBox 5"/>
          <p:cNvSpPr txBox="1"/>
          <p:nvPr/>
        </p:nvSpPr>
        <p:spPr>
          <a:xfrm>
            <a:off x="731520" y="2377440"/>
            <a:ext cx="2011680" cy="3566160"/>
          </a:xfrm>
          <a:prstGeom prst="rect">
            <a:avLst/>
          </a:prstGeom>
          <a:noFill/>
        </p:spPr>
        <p:txBody>
          <a:bodyPr wrap="square">
            <a:spAutoFit/>
          </a:bodyPr>
          <a:lstStyle/>
          <a:p>
            <a:pPr algn="ctr">
              <a:defRPr b="1" sz="1500">
                <a:solidFill>
                  <a:srgbClr val="1B4332"/>
                </a:solidFill>
              </a:defRPr>
            </a:pPr>
            <a:r>
              <a:t>Requirements</a:t>
            </a:r>
          </a:p>
          <a:p>
            <a:pPr algn="ctr">
              <a:defRPr b="1" sz="1100">
                <a:solidFill>
                  <a:srgbClr val="2D6A4F"/>
                </a:solidFill>
              </a:defRPr>
            </a:pPr>
            <a:r>
              <a:t>Week 1-2</a:t>
            </a:r>
          </a:p>
          <a:p>
            <a:br/>
            <a:pPr algn="ctr">
              <a:defRPr sz="1050">
                <a:solidFill>
                  <a:srgbClr val="0F172A"/>
                </a:solidFill>
              </a:defRPr>
            </a:pPr>
            <a:r>
              <a:t>Defined system scope, disaster categories (Flood, Collapse, Fire, Medical), and mapped AWS Free Tier quotas.</a:t>
            </a:r>
          </a:p>
        </p:txBody>
      </p:sp>
      <p:sp>
        <p:nvSpPr>
          <p:cNvPr id="7" name="Oval 6"/>
          <p:cNvSpPr/>
          <p:nvPr/>
        </p:nvSpPr>
        <p:spPr>
          <a:xfrm>
            <a:off x="3566160" y="1645920"/>
            <a:ext cx="548640" cy="54864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2</a:t>
            </a:r>
          </a:p>
        </p:txBody>
      </p:sp>
      <p:sp>
        <p:nvSpPr>
          <p:cNvPr id="8" name="TextBox 7"/>
          <p:cNvSpPr txBox="1"/>
          <p:nvPr/>
        </p:nvSpPr>
        <p:spPr>
          <a:xfrm>
            <a:off x="2926080" y="2377440"/>
            <a:ext cx="2011680" cy="3566160"/>
          </a:xfrm>
          <a:prstGeom prst="rect">
            <a:avLst/>
          </a:prstGeom>
          <a:noFill/>
        </p:spPr>
        <p:txBody>
          <a:bodyPr wrap="square">
            <a:spAutoFit/>
          </a:bodyPr>
          <a:lstStyle/>
          <a:p>
            <a:pPr algn="ctr">
              <a:defRPr b="1" sz="1500">
                <a:solidFill>
                  <a:srgbClr val="1B4332"/>
                </a:solidFill>
              </a:defRPr>
            </a:pPr>
            <a:r>
              <a:t>Design</a:t>
            </a:r>
          </a:p>
          <a:p>
            <a:pPr algn="ctr">
              <a:defRPr b="1" sz="1100">
                <a:solidFill>
                  <a:srgbClr val="2D6A4F"/>
                </a:solidFill>
              </a:defRPr>
            </a:pPr>
            <a:r>
              <a:t>Week 3-4</a:t>
            </a:r>
          </a:p>
          <a:p>
            <a:br/>
            <a:pPr algn="ctr">
              <a:defRPr sz="1050">
                <a:solidFill>
                  <a:srgbClr val="0F172A"/>
                </a:solidFill>
              </a:defRPr>
            </a:pPr>
            <a:r>
              <a:t>Formulated serverless architecture, DynamoDB NoSQL key schema, Leaflet GIS mapping, and WebRTC HUD reticle.</a:t>
            </a:r>
          </a:p>
        </p:txBody>
      </p:sp>
      <p:sp>
        <p:nvSpPr>
          <p:cNvPr id="9" name="Oval 8"/>
          <p:cNvSpPr/>
          <p:nvPr/>
        </p:nvSpPr>
        <p:spPr>
          <a:xfrm>
            <a:off x="5760720" y="1645920"/>
            <a:ext cx="548640" cy="54864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3</a:t>
            </a:r>
          </a:p>
        </p:txBody>
      </p:sp>
      <p:sp>
        <p:nvSpPr>
          <p:cNvPr id="10" name="TextBox 9"/>
          <p:cNvSpPr txBox="1"/>
          <p:nvPr/>
        </p:nvSpPr>
        <p:spPr>
          <a:xfrm>
            <a:off x="5120640" y="2377440"/>
            <a:ext cx="2011680" cy="3566160"/>
          </a:xfrm>
          <a:prstGeom prst="rect">
            <a:avLst/>
          </a:prstGeom>
          <a:noFill/>
        </p:spPr>
        <p:txBody>
          <a:bodyPr wrap="square">
            <a:spAutoFit/>
          </a:bodyPr>
          <a:lstStyle/>
          <a:p>
            <a:pPr algn="ctr">
              <a:defRPr b="1" sz="1500">
                <a:solidFill>
                  <a:srgbClr val="1B4332"/>
                </a:solidFill>
              </a:defRPr>
            </a:pPr>
            <a:r>
              <a:t>Deployment</a:t>
            </a:r>
          </a:p>
          <a:p>
            <a:pPr algn="ctr">
              <a:defRPr b="1" sz="1100">
                <a:solidFill>
                  <a:srgbClr val="2D6A4F"/>
                </a:solidFill>
              </a:defRPr>
            </a:pPr>
            <a:r>
              <a:t>Week 5-7</a:t>
            </a:r>
          </a:p>
          <a:p>
            <a:br/>
            <a:pPr algn="ctr">
              <a:defRPr sz="1050">
                <a:solidFill>
                  <a:srgbClr val="0F172A"/>
                </a:solidFill>
              </a:defRPr>
            </a:pPr>
            <a:r>
              <a:t>Developed Python Lambda handler, configured API Gateway routes, deployed S3 bucket policies, and built Amplify frontend.</a:t>
            </a:r>
          </a:p>
        </p:txBody>
      </p:sp>
      <p:sp>
        <p:nvSpPr>
          <p:cNvPr id="11" name="Oval 10"/>
          <p:cNvSpPr/>
          <p:nvPr/>
        </p:nvSpPr>
        <p:spPr>
          <a:xfrm>
            <a:off x="7955279" y="1645920"/>
            <a:ext cx="548640" cy="54864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4</a:t>
            </a:r>
          </a:p>
        </p:txBody>
      </p:sp>
      <p:sp>
        <p:nvSpPr>
          <p:cNvPr id="12" name="TextBox 11"/>
          <p:cNvSpPr txBox="1"/>
          <p:nvPr/>
        </p:nvSpPr>
        <p:spPr>
          <a:xfrm>
            <a:off x="7315199" y="2377440"/>
            <a:ext cx="2011680" cy="3566160"/>
          </a:xfrm>
          <a:prstGeom prst="rect">
            <a:avLst/>
          </a:prstGeom>
          <a:noFill/>
        </p:spPr>
        <p:txBody>
          <a:bodyPr wrap="square">
            <a:spAutoFit/>
          </a:bodyPr>
          <a:lstStyle/>
          <a:p>
            <a:pPr algn="ctr">
              <a:defRPr b="1" sz="1500">
                <a:solidFill>
                  <a:srgbClr val="1B4332"/>
                </a:solidFill>
              </a:defRPr>
            </a:pPr>
            <a:r>
              <a:t>Testing</a:t>
            </a:r>
          </a:p>
          <a:p>
            <a:pPr algn="ctr">
              <a:defRPr b="1" sz="1100">
                <a:solidFill>
                  <a:srgbClr val="2D6A4F"/>
                </a:solidFill>
              </a:defRPr>
            </a:pPr>
            <a:r>
              <a:t>Week 8</a:t>
            </a:r>
          </a:p>
          <a:p>
            <a:br/>
            <a:pPr algn="ctr">
              <a:defRPr sz="1050">
                <a:solidFill>
                  <a:srgbClr val="0F172A"/>
                </a:solidFill>
              </a:defRPr>
            </a:pPr>
            <a:r>
              <a:t>Conducted end-to-end payload load testing, verified CORS pre-flight headers, and calibrated mobile touch reticle.</a:t>
            </a:r>
          </a:p>
        </p:txBody>
      </p:sp>
      <p:sp>
        <p:nvSpPr>
          <p:cNvPr id="13" name="Oval 12"/>
          <p:cNvSpPr/>
          <p:nvPr/>
        </p:nvSpPr>
        <p:spPr>
          <a:xfrm>
            <a:off x="10149840" y="1645920"/>
            <a:ext cx="548640" cy="54864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5</a:t>
            </a:r>
          </a:p>
        </p:txBody>
      </p:sp>
      <p:sp>
        <p:nvSpPr>
          <p:cNvPr id="14" name="TextBox 13"/>
          <p:cNvSpPr txBox="1"/>
          <p:nvPr/>
        </p:nvSpPr>
        <p:spPr>
          <a:xfrm>
            <a:off x="9509760" y="2377440"/>
            <a:ext cx="2011680" cy="3566160"/>
          </a:xfrm>
          <a:prstGeom prst="rect">
            <a:avLst/>
          </a:prstGeom>
          <a:noFill/>
        </p:spPr>
        <p:txBody>
          <a:bodyPr wrap="square">
            <a:spAutoFit/>
          </a:bodyPr>
          <a:lstStyle/>
          <a:p>
            <a:pPr algn="ctr">
              <a:defRPr b="1" sz="1500">
                <a:solidFill>
                  <a:srgbClr val="1B4332"/>
                </a:solidFill>
              </a:defRPr>
            </a:pPr>
            <a:r>
              <a:t>Monitoring</a:t>
            </a:r>
          </a:p>
          <a:p>
            <a:pPr algn="ctr">
              <a:defRPr b="1" sz="1100">
                <a:solidFill>
                  <a:srgbClr val="2D6A4F"/>
                </a:solidFill>
              </a:defRPr>
            </a:pPr>
            <a:r>
              <a:t>Week 9-10</a:t>
            </a:r>
          </a:p>
          <a:p>
            <a:br/>
            <a:pPr algn="ctr">
              <a:defRPr sz="1050">
                <a:solidFill>
                  <a:srgbClr val="0F172A"/>
                </a:solidFill>
              </a:defRPr>
            </a:pPr>
            <a:r>
              <a:t>Audited Amazon CloudWatch latency logs, monitored multi-AZ execution, and verified ₹0.00 zero-cost billing status.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lgn="l">
              <a:defRPr sz="3000" b="1">
                <a:solidFill>
                  <a:srgbClr val="1B4332"/>
                </a:solidFill>
              </a:defRPr>
            </a:pPr>
            <a:r>
              <a:t>Results and Observations</a:t>
            </a:r>
          </a:p>
        </p:txBody>
      </p:sp>
      <p:sp>
        <p:nvSpPr>
          <p:cNvPr id="3" name="TextBox 2"/>
          <p:cNvSpPr txBox="1"/>
          <p:nvPr/>
        </p:nvSpPr>
        <p:spPr>
          <a:xfrm>
            <a:off x="731520" y="6309360"/>
            <a:ext cx="9601200" cy="365760"/>
          </a:xfrm>
          <a:prstGeom prst="rect">
            <a:avLst/>
          </a:prstGeom>
          <a:noFill/>
        </p:spPr>
        <p:txBody>
          <a:bodyPr wrap="none">
            <a:spAutoFit/>
          </a:bodyPr>
          <a:lstStyle/>
          <a:p>
            <a:pPr>
              <a:defRPr sz="1100">
                <a:solidFill>
                  <a:srgbClr val="475569"/>
                </a:solidFill>
              </a:defRPr>
            </a:pPr>
            <a:r>
              <a:t>ECA4PE23A Cloud Computing | B.Tech ECE (AIML) | DoEEE, MIT-WPU | AY 2026-27</a:t>
            </a:r>
          </a:p>
        </p:txBody>
      </p:sp>
      <p:sp>
        <p:nvSpPr>
          <p:cNvPr id="4" name="TextBox 3"/>
          <p:cNvSpPr txBox="1"/>
          <p:nvPr/>
        </p:nvSpPr>
        <p:spPr>
          <a:xfrm>
            <a:off x="10789920" y="6309360"/>
            <a:ext cx="731520" cy="365760"/>
          </a:xfrm>
          <a:prstGeom prst="rect">
            <a:avLst/>
          </a:prstGeom>
          <a:noFill/>
        </p:spPr>
        <p:txBody>
          <a:bodyPr wrap="none">
            <a:spAutoFit/>
          </a:bodyPr>
          <a:lstStyle/>
          <a:p>
            <a:pPr algn="r">
              <a:defRPr sz="1100" b="1">
                <a:solidFill>
                  <a:srgbClr val="475569"/>
                </a:solidFill>
              </a:defRPr>
            </a:pPr>
            <a:r>
              <a:t>8</a:t>
            </a:r>
          </a:p>
        </p:txBody>
      </p:sp>
      <p:sp>
        <p:nvSpPr>
          <p:cNvPr id="5" name="Rounded Rectangle 4"/>
          <p:cNvSpPr/>
          <p:nvPr/>
        </p:nvSpPr>
        <p:spPr>
          <a:xfrm>
            <a:off x="731520" y="1463040"/>
            <a:ext cx="6217920" cy="4480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5669280" cy="4114800"/>
          </a:xfrm>
          <a:prstGeom prst="rect">
            <a:avLst/>
          </a:prstGeom>
          <a:noFill/>
        </p:spPr>
        <p:txBody>
          <a:bodyPr wrap="square">
            <a:spAutoFit/>
          </a:bodyPr>
          <a:lstStyle/>
          <a:p>
            <a:pPr>
              <a:defRPr b="1" sz="1600">
                <a:solidFill>
                  <a:srgbClr val="1B4332"/>
                </a:solidFill>
              </a:defRPr>
            </a:pPr>
            <a:r>
              <a:t>Deployed Application &amp; Live Console Observations</a:t>
            </a:r>
          </a:p>
          <a:p>
            <a:br/>
            <a:pPr>
              <a:defRPr b="1" sz="1100">
                <a:solidFill>
                  <a:srgbClr val="0F172A"/>
                </a:solidFill>
              </a:defRPr>
            </a:pPr>
            <a:r>
              <a:t>• UAV Reconnaissance Camera HUD:</a:t>
            </a:r>
          </a:p>
          <a:p>
            <a:pPr>
              <a:defRPr sz="1000">
                <a:solidFill>
                  <a:srgbClr val="475569"/>
                </a:solidFill>
              </a:defRPr>
            </a:pPr>
            <a:r>
              <a:t>Successfully locks GPS coordinates, captures live WebRTC optical feed, and renders AI confidence indicator (96.8%) with touch/auto targeting crossbar.</a:t>
            </a:r>
          </a:p>
          <a:p>
            <a:br/>
            <a:pPr>
              <a:defRPr b="1" sz="1100">
                <a:solidFill>
                  <a:srgbClr val="0F172A"/>
                </a:solidFill>
              </a:defRPr>
            </a:pPr>
            <a:r>
              <a:t>• Leaflet GIS Rescue Command Center:</a:t>
            </a:r>
          </a:p>
          <a:p>
            <a:pPr>
              <a:defRPr sz="1000">
                <a:solidFill>
                  <a:srgbClr val="475569"/>
                </a:solidFill>
              </a:defRPr>
            </a:pPr>
            <a:r>
              <a:t>Renders Esri satellite &amp; street basemaps with real-time incident pins, tactical distance calculations (km), and dynamic status state transitions.</a:t>
            </a:r>
          </a:p>
          <a:p>
            <a:br/>
            <a:pPr>
              <a:defRPr b="1" sz="1100">
                <a:solidFill>
                  <a:srgbClr val="0F172A"/>
                </a:solidFill>
              </a:defRPr>
            </a:pPr>
            <a:r>
              <a:t>• Multi-Branch Disaster Filtering:</a:t>
            </a:r>
          </a:p>
          <a:p>
            <a:pPr>
              <a:defRPr sz="1000">
                <a:solidFill>
                  <a:srgbClr val="475569"/>
                </a:solidFill>
              </a:defRPr>
            </a:pPr>
            <a:r>
              <a:t>Instantly classifies incidents into Marine &amp; Flood, Structural Collapse, Fire &amp; Hazmat, and Medical Triage with live counter badges.</a:t>
            </a:r>
          </a:p>
          <a:p>
            <a:br/>
            <a:pPr>
              <a:defRPr b="1" sz="1100">
                <a:solidFill>
                  <a:srgbClr val="0F172A"/>
                </a:solidFill>
              </a:defRPr>
            </a:pPr>
            <a:r>
              <a:t>• Disaster Route Guidance Vector:</a:t>
            </a:r>
          </a:p>
          <a:p>
            <a:pPr>
              <a:defRPr sz="1000">
                <a:solidFill>
                  <a:srgbClr val="475569"/>
                </a:solidFill>
              </a:defRPr>
            </a:pPr>
            <a:r>
              <a:t>Automatically routes Amphibious Boat Corridors for flooded terrain and street routing for intact road networks.</a:t>
            </a:r>
          </a:p>
          <a:p>
            <a:br/>
            <a:pPr>
              <a:defRPr b="1" sz="1100">
                <a:solidFill>
                  <a:srgbClr val="0F172A"/>
                </a:solidFill>
              </a:defRPr>
            </a:pPr>
            <a:r>
              <a:t>• Amazon S3 &amp; DynamoDB Synchronization:</a:t>
            </a:r>
          </a:p>
          <a:p>
            <a:pPr>
              <a:defRPr sz="1000">
                <a:solidFill>
                  <a:srgbClr val="475569"/>
                </a:solidFill>
              </a:defRPr>
            </a:pPr>
            <a:r>
              <a:t>High-resolution drone photos stored in S3 and incident metadata logged in DynamoDB within sub-100ms.</a:t>
            </a:r>
          </a:p>
        </p:txBody>
      </p:sp>
      <p:sp>
        <p:nvSpPr>
          <p:cNvPr id="7" name="Rounded Rectangle 6"/>
          <p:cNvSpPr/>
          <p:nvPr/>
        </p:nvSpPr>
        <p:spPr>
          <a:xfrm>
            <a:off x="7315200" y="1463040"/>
            <a:ext cx="4114800" cy="128016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1600200"/>
            <a:ext cx="3749039" cy="1005840"/>
          </a:xfrm>
          <a:prstGeom prst="rect">
            <a:avLst/>
          </a:prstGeom>
          <a:noFill/>
        </p:spPr>
        <p:txBody>
          <a:bodyPr wrap="square">
            <a:spAutoFit/>
          </a:bodyPr>
          <a:lstStyle/>
          <a:p>
            <a:pPr>
              <a:defRPr b="1" sz="2600">
                <a:solidFill>
                  <a:srgbClr val="2D6A4F"/>
                </a:solidFill>
              </a:defRPr>
            </a:pPr>
            <a:r>
              <a:t>82 ms</a:t>
            </a:r>
          </a:p>
          <a:p>
            <a:pPr>
              <a:defRPr sz="1100">
                <a:solidFill>
                  <a:srgbClr val="0F172A"/>
                </a:solidFill>
              </a:defRPr>
            </a:pPr>
            <a:r>
              <a:t>Average Response Time — End-to-end API Gateway + Lambda execution and DynamoDB read/write cycle.</a:t>
            </a:r>
          </a:p>
        </p:txBody>
      </p:sp>
      <p:sp>
        <p:nvSpPr>
          <p:cNvPr id="9" name="Rounded Rectangle 8"/>
          <p:cNvSpPr/>
          <p:nvPr/>
        </p:nvSpPr>
        <p:spPr>
          <a:xfrm>
            <a:off x="7315200" y="2971800"/>
            <a:ext cx="4114800" cy="128016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108960"/>
            <a:ext cx="3749039" cy="1005840"/>
          </a:xfrm>
          <a:prstGeom prst="rect">
            <a:avLst/>
          </a:prstGeom>
          <a:noFill/>
        </p:spPr>
        <p:txBody>
          <a:bodyPr wrap="square">
            <a:spAutoFit/>
          </a:bodyPr>
          <a:lstStyle/>
          <a:p>
            <a:pPr>
              <a:defRPr b="1" sz="2600">
                <a:solidFill>
                  <a:srgbClr val="2D6A4F"/>
                </a:solidFill>
              </a:defRPr>
            </a:pPr>
            <a:r>
              <a:t>99.95 %</a:t>
            </a:r>
          </a:p>
          <a:p>
            <a:pPr>
              <a:defRPr sz="1100">
                <a:solidFill>
                  <a:srgbClr val="0F172A"/>
                </a:solidFill>
              </a:defRPr>
            </a:pPr>
            <a:r>
              <a:t>Uptime / Availability — Managed multi-AZ AWS serverless infrastructure with automated failover.</a:t>
            </a:r>
          </a:p>
        </p:txBody>
      </p:sp>
      <p:sp>
        <p:nvSpPr>
          <p:cNvPr id="11" name="Rounded Rectangle 10"/>
          <p:cNvSpPr/>
          <p:nvPr/>
        </p:nvSpPr>
        <p:spPr>
          <a:xfrm>
            <a:off x="7315200" y="4480560"/>
            <a:ext cx="4114800" cy="128016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4617720"/>
            <a:ext cx="3749039" cy="1005840"/>
          </a:xfrm>
          <a:prstGeom prst="rect">
            <a:avLst/>
          </a:prstGeom>
          <a:noFill/>
        </p:spPr>
        <p:txBody>
          <a:bodyPr wrap="square">
            <a:spAutoFit/>
          </a:bodyPr>
          <a:lstStyle/>
          <a:p>
            <a:pPr>
              <a:defRPr b="1" sz="2600">
                <a:solidFill>
                  <a:srgbClr val="2D6A4F"/>
                </a:solidFill>
              </a:defRPr>
            </a:pPr>
            <a:r>
              <a:t>₹0.00</a:t>
            </a:r>
          </a:p>
          <a:p>
            <a:pPr>
              <a:defRPr sz="1100">
                <a:solidFill>
                  <a:srgbClr val="0F172A"/>
                </a:solidFill>
              </a:defRPr>
            </a:pPr>
            <a:r>
              <a:t>Monthly Cloud Cost — Zero idle billing; fully operating within AWS 12-Month Free Tier allowance.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lgn="l">
              <a:defRPr sz="3000" b="1">
                <a:solidFill>
                  <a:srgbClr val="1B4332"/>
                </a:solidFill>
              </a:defRPr>
            </a:pPr>
            <a:r>
              <a:t>Individual Contribution</a:t>
            </a:r>
          </a:p>
        </p:txBody>
      </p:sp>
      <p:sp>
        <p:nvSpPr>
          <p:cNvPr id="3" name="TextBox 2"/>
          <p:cNvSpPr txBox="1"/>
          <p:nvPr/>
        </p:nvSpPr>
        <p:spPr>
          <a:xfrm>
            <a:off x="731520" y="6309360"/>
            <a:ext cx="9601200" cy="365760"/>
          </a:xfrm>
          <a:prstGeom prst="rect">
            <a:avLst/>
          </a:prstGeom>
          <a:noFill/>
        </p:spPr>
        <p:txBody>
          <a:bodyPr wrap="none">
            <a:spAutoFit/>
          </a:bodyPr>
          <a:lstStyle/>
          <a:p>
            <a:pPr>
              <a:defRPr sz="1100">
                <a:solidFill>
                  <a:srgbClr val="475569"/>
                </a:solidFill>
              </a:defRPr>
            </a:pPr>
            <a:r>
              <a:t>ECA4PE23A Cloud Computing | B.Tech ECE (AIML) | DoEEE, MIT-WPU | AY 2026-27</a:t>
            </a:r>
          </a:p>
        </p:txBody>
      </p:sp>
      <p:sp>
        <p:nvSpPr>
          <p:cNvPr id="4" name="TextBox 3"/>
          <p:cNvSpPr txBox="1"/>
          <p:nvPr/>
        </p:nvSpPr>
        <p:spPr>
          <a:xfrm>
            <a:off x="10789920" y="6309360"/>
            <a:ext cx="731520" cy="365760"/>
          </a:xfrm>
          <a:prstGeom prst="rect">
            <a:avLst/>
          </a:prstGeom>
          <a:noFill/>
        </p:spPr>
        <p:txBody>
          <a:bodyPr wrap="none">
            <a:spAutoFit/>
          </a:bodyPr>
          <a:lstStyle/>
          <a:p>
            <a:pPr algn="r">
              <a:defRPr sz="1100" b="1">
                <a:solidFill>
                  <a:srgbClr val="475569"/>
                </a:solidFill>
              </a:defRPr>
            </a:pPr>
            <a:r>
              <a:t>9</a:t>
            </a:r>
          </a:p>
        </p:txBody>
      </p:sp>
      <p:graphicFrame>
        <p:nvGraphicFramePr>
          <p:cNvPr id="5" name="Table 4"/>
          <p:cNvGraphicFramePr>
            <a:graphicFrameLocks noGrp="1"/>
          </p:cNvGraphicFramePr>
          <p:nvPr/>
        </p:nvGraphicFramePr>
        <p:xfrm>
          <a:off x="731520" y="1463040"/>
          <a:ext cx="10698480" cy="2011680"/>
        </p:xfrm>
        <a:graphic>
          <a:graphicData uri="http://schemas.openxmlformats.org/drawingml/2006/table">
            <a:tbl>
              <a:tblPr firstRow="1" bandRow="1">
                <a:tableStyleId>{5C22544A-7EE6-4342-B048-85BDC9FD1C3A}</a:tableStyleId>
              </a:tblPr>
              <a:tblGrid>
                <a:gridCol w="1828800"/>
                <a:gridCol w="2011680"/>
                <a:gridCol w="3200400"/>
                <a:gridCol w="2560320"/>
                <a:gridCol w="1097280"/>
              </a:tblGrid>
              <a:tr h="670560">
                <a:tc>
                  <a:txBody>
                    <a:bodyPr/>
                    <a:lstStyle/>
                    <a:p>
                      <a:pPr>
                        <a:defRPr b="1" sz="1200">
                          <a:solidFill>
                            <a:srgbClr val="FFFFFF"/>
                          </a:solidFill>
                        </a:defRPr>
                      </a:pPr>
                      <a:r>
                        <a:t>Team Member</a:t>
                      </a:r>
                    </a:p>
                  </a:txBody>
                  <a:tcPr>
                    <a:solidFill>
                      <a:srgbClr val="1B4332"/>
                    </a:solidFill>
                  </a:tcPr>
                </a:tc>
                <a:tc>
                  <a:txBody>
                    <a:bodyPr/>
                    <a:lstStyle/>
                    <a:p>
                      <a:pPr>
                        <a:defRPr b="1" sz="1200">
                          <a:solidFill>
                            <a:srgbClr val="FFFFFF"/>
                          </a:solidFill>
                        </a:defRPr>
                      </a:pPr>
                      <a:r>
                        <a:t>Role</a:t>
                      </a:r>
                    </a:p>
                  </a:txBody>
                  <a:tcPr>
                    <a:solidFill>
                      <a:srgbClr val="1B4332"/>
                    </a:solidFill>
                  </a:tcPr>
                </a:tc>
                <a:tc>
                  <a:txBody>
                    <a:bodyPr/>
                    <a:lstStyle/>
                    <a:p>
                      <a:pPr>
                        <a:defRPr b="1" sz="1200">
                          <a:solidFill>
                            <a:srgbClr val="FFFFFF"/>
                          </a:solidFill>
                        </a:defRPr>
                      </a:pPr>
                      <a:r>
                        <a:t>Modules / Tasks</a:t>
                      </a:r>
                    </a:p>
                  </a:txBody>
                  <a:tcPr>
                    <a:solidFill>
                      <a:srgbClr val="1B4332"/>
                    </a:solidFill>
                  </a:tcPr>
                </a:tc>
                <a:tc>
                  <a:txBody>
                    <a:bodyPr/>
                    <a:lstStyle/>
                    <a:p>
                      <a:pPr>
                        <a:defRPr b="1" sz="1200">
                          <a:solidFill>
                            <a:srgbClr val="FFFFFF"/>
                          </a:solidFill>
                        </a:defRPr>
                      </a:pPr>
                      <a:r>
                        <a:t>Cloud Services / Tools</a:t>
                      </a:r>
                    </a:p>
                  </a:txBody>
                  <a:tcPr>
                    <a:solidFill>
                      <a:srgbClr val="1B4332"/>
                    </a:solidFill>
                  </a:tcPr>
                </a:tc>
                <a:tc>
                  <a:txBody>
                    <a:bodyPr/>
                    <a:lstStyle/>
                    <a:p>
                      <a:pPr>
                        <a:defRPr b="1" sz="1200">
                          <a:solidFill>
                            <a:srgbClr val="FFFFFF"/>
                          </a:solidFill>
                        </a:defRPr>
                      </a:pPr>
                      <a:r>
                        <a:t>Share</a:t>
                      </a:r>
                    </a:p>
                  </a:txBody>
                  <a:tcPr>
                    <a:solidFill>
                      <a:srgbClr val="1B4332"/>
                    </a:solidFill>
                  </a:tcPr>
                </a:tc>
              </a:tr>
              <a:tr h="670560">
                <a:tc>
                  <a:txBody>
                    <a:bodyPr/>
                    <a:lstStyle/>
                    <a:p>
                      <a:pPr>
                        <a:defRPr sz="1100">
                          <a:solidFill>
                            <a:srgbClr val="0F172A"/>
                          </a:solidFill>
                        </a:defRPr>
                      </a:pPr>
                      <a:r>
                        <a:t>Prince Gupta</a:t>
                      </a:r>
                      <a:br/>
                      <a:r>
                        <a:t>(1032232904)</a:t>
                      </a:r>
                    </a:p>
                  </a:txBody>
                  <a:tcPr>
                    <a:solidFill>
                      <a:srgbClr val="F1F8F5"/>
                    </a:solidFill>
                  </a:tcPr>
                </a:tc>
                <a:tc>
                  <a:txBody>
                    <a:bodyPr/>
                    <a:lstStyle/>
                    <a:p>
                      <a:pPr>
                        <a:defRPr sz="1100">
                          <a:solidFill>
                            <a:srgbClr val="0F172A"/>
                          </a:solidFill>
                        </a:defRPr>
                      </a:pPr>
                      <a:r>
                        <a:t>Cloud Architect &amp;</a:t>
                      </a:r>
                      <a:br/>
                      <a:r>
                        <a:t>Backend Lead</a:t>
                      </a:r>
                    </a:p>
                  </a:txBody>
                  <a:tcPr>
                    <a:solidFill>
                      <a:srgbClr val="F1F8F5"/>
                    </a:solidFill>
                  </a:tcPr>
                </a:tc>
                <a:tc>
                  <a:txBody>
                    <a:bodyPr/>
                    <a:lstStyle/>
                    <a:p>
                      <a:pPr>
                        <a:defRPr sz="1100">
                          <a:solidFill>
                            <a:srgbClr val="0F172A"/>
                          </a:solidFill>
                        </a:defRPr>
                      </a:pPr>
                      <a:r>
                        <a:t>Serverless Lambda handler, DynamoDB NoSQL schema, SNS notification engine, API Gateway CORS</a:t>
                      </a:r>
                    </a:p>
                  </a:txBody>
                  <a:tcPr>
                    <a:solidFill>
                      <a:srgbClr val="F1F8F5"/>
                    </a:solidFill>
                  </a:tcPr>
                </a:tc>
                <a:tc>
                  <a:txBody>
                    <a:bodyPr/>
                    <a:lstStyle/>
                    <a:p>
                      <a:pPr>
                        <a:defRPr sz="1100">
                          <a:solidFill>
                            <a:srgbClr val="0F172A"/>
                          </a:solidFill>
                        </a:defRPr>
                      </a:pPr>
                      <a:r>
                        <a:t>AWS Lambda, DynamoDB, API Gateway, SNS, Python</a:t>
                      </a:r>
                    </a:p>
                  </a:txBody>
                  <a:tcPr>
                    <a:solidFill>
                      <a:srgbClr val="F1F8F5"/>
                    </a:solidFill>
                  </a:tcPr>
                </a:tc>
                <a:tc>
                  <a:txBody>
                    <a:bodyPr/>
                    <a:lstStyle/>
                    <a:p>
                      <a:pPr>
                        <a:defRPr sz="1100">
                          <a:solidFill>
                            <a:srgbClr val="0F172A"/>
                          </a:solidFill>
                        </a:defRPr>
                      </a:pPr>
                      <a:r>
                        <a:t>50%</a:t>
                      </a:r>
                    </a:p>
                  </a:txBody>
                  <a:tcPr>
                    <a:solidFill>
                      <a:srgbClr val="F1F8F5"/>
                    </a:solidFill>
                  </a:tcPr>
                </a:tc>
              </a:tr>
              <a:tr h="670560">
                <a:tc>
                  <a:txBody>
                    <a:bodyPr/>
                    <a:lstStyle/>
                    <a:p>
                      <a:pPr>
                        <a:defRPr sz="1100">
                          <a:solidFill>
                            <a:srgbClr val="0F172A"/>
                          </a:solidFill>
                        </a:defRPr>
                      </a:pPr>
                      <a:r>
                        <a:t>Nirmaan Pawar</a:t>
                      </a:r>
                      <a:br/>
                      <a:r>
                        <a:t>(1032232352)</a:t>
                      </a:r>
                    </a:p>
                  </a:txBody>
                  <a:tcPr>
                    <a:solidFill>
                      <a:srgbClr val="FFFFFF"/>
                    </a:solidFill>
                  </a:tcPr>
                </a:tc>
                <a:tc>
                  <a:txBody>
                    <a:bodyPr/>
                    <a:lstStyle/>
                    <a:p>
                      <a:pPr>
                        <a:defRPr sz="1100">
                          <a:solidFill>
                            <a:srgbClr val="0F172A"/>
                          </a:solidFill>
                        </a:defRPr>
                      </a:pPr>
                      <a:r>
                        <a:t>Drone Telemetry &amp;</a:t>
                      </a:r>
                      <a:br/>
                      <a:r>
                        <a:t>Dashboard Lead</a:t>
                      </a:r>
                    </a:p>
                  </a:txBody>
                  <a:tcPr>
                    <a:solidFill>
                      <a:srgbClr val="FFFFFF"/>
                    </a:solidFill>
                  </a:tcPr>
                </a:tc>
                <a:tc>
                  <a:txBody>
                    <a:bodyPr/>
                    <a:lstStyle/>
                    <a:p>
                      <a:pPr>
                        <a:defRPr sz="1100">
                          <a:solidFill>
                            <a:srgbClr val="0F172A"/>
                          </a:solidFill>
                        </a:defRPr>
                      </a:pPr>
                      <a:r>
                        <a:t>UAV WebRTC camera HUD, targeting crossbar, Leaflet GIS mapping, dynamic routing, Amplify hosting</a:t>
                      </a:r>
                    </a:p>
                  </a:txBody>
                  <a:tcPr>
                    <a:solidFill>
                      <a:srgbClr val="FFFFFF"/>
                    </a:solidFill>
                  </a:tcPr>
                </a:tc>
                <a:tc>
                  <a:txBody>
                    <a:bodyPr/>
                    <a:lstStyle/>
                    <a:p>
                      <a:pPr>
                        <a:defRPr sz="1100">
                          <a:solidFill>
                            <a:srgbClr val="0F172A"/>
                          </a:solidFill>
                        </a:defRPr>
                      </a:pPr>
                      <a:r>
                        <a:t>AWS Amplify, Leaflet.js, WebRTC, HTML5/CSS3, S3</a:t>
                      </a:r>
                    </a:p>
                  </a:txBody>
                  <a:tcPr>
                    <a:solidFill>
                      <a:srgbClr val="FFFFFF"/>
                    </a:solidFill>
                  </a:tcPr>
                </a:tc>
                <a:tc>
                  <a:txBody>
                    <a:bodyPr/>
                    <a:lstStyle/>
                    <a:p>
                      <a:pPr>
                        <a:defRPr sz="1100">
                          <a:solidFill>
                            <a:srgbClr val="0F172A"/>
                          </a:solidFill>
                        </a:defRPr>
                      </a:pPr>
                      <a:r>
                        <a:t>50%</a:t>
                      </a:r>
                    </a:p>
                  </a:txBody>
                  <a:tcPr>
                    <a:solidFill>
                      <a:srgbClr val="FFFFFF"/>
                    </a:solidFill>
                  </a:tcPr>
                </a:tc>
              </a:tr>
            </a:tbl>
          </a:graphicData>
        </a:graphic>
      </p:graphicFrame>
      <p:sp>
        <p:nvSpPr>
          <p:cNvPr id="6" name="Rounded Rectangle 5"/>
          <p:cNvSpPr/>
          <p:nvPr/>
        </p:nvSpPr>
        <p:spPr>
          <a:xfrm>
            <a:off x="731520" y="3840480"/>
            <a:ext cx="5120640" cy="219456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931920"/>
            <a:ext cx="4754880" cy="2011680"/>
          </a:xfrm>
          <a:prstGeom prst="rect">
            <a:avLst/>
          </a:prstGeom>
          <a:noFill/>
        </p:spPr>
        <p:txBody>
          <a:bodyPr wrap="square">
            <a:spAutoFit/>
          </a:bodyPr>
          <a:lstStyle/>
          <a:p>
            <a:pPr>
              <a:defRPr b="1" sz="1300">
                <a:solidFill>
                  <a:srgbClr val="1B4332"/>
                </a:solidFill>
              </a:defRPr>
            </a:pPr>
            <a:r>
              <a:t>Prince Gupta (PRN: 1032232904)</a:t>
            </a:r>
          </a:p>
          <a:p>
            <a:pPr>
              <a:defRPr sz="1000">
                <a:solidFill>
                  <a:srgbClr val="0F172A"/>
                </a:solidFill>
              </a:defRPr>
            </a:pPr>
            <a:r>
              <a:t>• Configured AWS Lambda serverless backend in Python 3.11 with JSON schema validation.</a:t>
            </a:r>
            <a:br/>
            <a:r>
              <a:t>• Structured Amazon DynamoDB primary/sort keys for atomic status updates (NEEDS_RESCUE ➔ RESOLVED).</a:t>
            </a:r>
            <a:br/>
            <a:r>
              <a:t>• Integrated Amazon SNS multi-channel emergency broadcast alerts with SMS/Email payloads.</a:t>
            </a:r>
            <a:br/>
            <a:r>
              <a:t>• Managed IAM least-privilege policies, CORS HTTP headers, and local offline API emulation.</a:t>
            </a:r>
          </a:p>
        </p:txBody>
      </p:sp>
      <p:sp>
        <p:nvSpPr>
          <p:cNvPr id="8" name="Rounded Rectangle 7"/>
          <p:cNvSpPr/>
          <p:nvPr/>
        </p:nvSpPr>
        <p:spPr>
          <a:xfrm>
            <a:off x="6309360" y="3840480"/>
            <a:ext cx="5120640" cy="219456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3931920"/>
            <a:ext cx="4754880" cy="2011680"/>
          </a:xfrm>
          <a:prstGeom prst="rect">
            <a:avLst/>
          </a:prstGeom>
          <a:noFill/>
        </p:spPr>
        <p:txBody>
          <a:bodyPr wrap="square">
            <a:spAutoFit/>
          </a:bodyPr>
          <a:lstStyle/>
          <a:p>
            <a:pPr>
              <a:defRPr b="1" sz="1300">
                <a:solidFill>
                  <a:srgbClr val="1B4332"/>
                </a:solidFill>
              </a:defRPr>
            </a:pPr>
            <a:r>
              <a:t>Nirmaan Pawar (PRN: 1032232352)</a:t>
            </a:r>
          </a:p>
          <a:p>
            <a:pPr>
              <a:defRPr sz="1000">
                <a:solidFill>
                  <a:srgbClr val="0F172A"/>
                </a:solidFill>
              </a:defRPr>
            </a:pPr>
            <a:r>
              <a:t>• Engineered Drone Reconnaissance Unit with WebRTC optical stream and AI targeting crossbar.</a:t>
            </a:r>
            <a:br/>
            <a:r>
              <a:t>• Designed Leaflet GIS Command Center supporting Esri Streets, Satellite, and Dark layers.</a:t>
            </a:r>
            <a:br/>
            <a:r>
              <a:t>• Programmed dynamic Amphibious Boat Corridor and Road Route navigation vectors.</a:t>
            </a:r>
            <a:br/>
            <a:r>
              <a:t>• Packaged and deployed frontend to AWS Amplify, ensuring responsive mobile and desktop execution.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lgn="l">
              <a:defRPr sz="3000" b="1">
                <a:solidFill>
                  <a:srgbClr val="1B4332"/>
                </a:solidFill>
              </a:defRPr>
            </a:pPr>
            <a:r>
              <a:t>Mapping to Sustainable Development Goals</a:t>
            </a:r>
          </a:p>
        </p:txBody>
      </p:sp>
      <p:sp>
        <p:nvSpPr>
          <p:cNvPr id="3" name="TextBox 2"/>
          <p:cNvSpPr txBox="1"/>
          <p:nvPr/>
        </p:nvSpPr>
        <p:spPr>
          <a:xfrm>
            <a:off x="731520" y="6309360"/>
            <a:ext cx="9601200" cy="365760"/>
          </a:xfrm>
          <a:prstGeom prst="rect">
            <a:avLst/>
          </a:prstGeom>
          <a:noFill/>
        </p:spPr>
        <p:txBody>
          <a:bodyPr wrap="none">
            <a:spAutoFit/>
          </a:bodyPr>
          <a:lstStyle/>
          <a:p>
            <a:pPr>
              <a:defRPr sz="1100">
                <a:solidFill>
                  <a:srgbClr val="475569"/>
                </a:solidFill>
              </a:defRPr>
            </a:pPr>
            <a:r>
              <a:t>ECA4PE23A Cloud Computing | B.Tech ECE (AIML) | DoEEE, MIT-WPU | AY 2026-27</a:t>
            </a:r>
          </a:p>
        </p:txBody>
      </p:sp>
      <p:sp>
        <p:nvSpPr>
          <p:cNvPr id="4" name="TextBox 3"/>
          <p:cNvSpPr txBox="1"/>
          <p:nvPr/>
        </p:nvSpPr>
        <p:spPr>
          <a:xfrm>
            <a:off x="10789920" y="6309360"/>
            <a:ext cx="731520" cy="365760"/>
          </a:xfrm>
          <a:prstGeom prst="rect">
            <a:avLst/>
          </a:prstGeom>
          <a:noFill/>
        </p:spPr>
        <p:txBody>
          <a:bodyPr wrap="none">
            <a:spAutoFit/>
          </a:bodyPr>
          <a:lstStyle/>
          <a:p>
            <a:pPr algn="r">
              <a:defRPr sz="1100" b="1">
                <a:solidFill>
                  <a:srgbClr val="475569"/>
                </a:solidFill>
              </a:defRPr>
            </a:pPr>
            <a:r>
              <a:t>10</a:t>
            </a:r>
          </a:p>
        </p:txBody>
      </p:sp>
      <p:sp>
        <p:nvSpPr>
          <p:cNvPr id="5" name="Rounded Rectangle 4"/>
          <p:cNvSpPr/>
          <p:nvPr/>
        </p:nvSpPr>
        <p:spPr>
          <a:xfrm>
            <a:off x="731520" y="1463040"/>
            <a:ext cx="5212080" cy="201168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1737360"/>
            <a:ext cx="731520" cy="73152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9</a:t>
            </a:r>
          </a:p>
        </p:txBody>
      </p:sp>
      <p:sp>
        <p:nvSpPr>
          <p:cNvPr id="7" name="TextBox 6"/>
          <p:cNvSpPr txBox="1"/>
          <p:nvPr/>
        </p:nvSpPr>
        <p:spPr>
          <a:xfrm>
            <a:off x="1920240" y="1645920"/>
            <a:ext cx="3840480" cy="1645920"/>
          </a:xfrm>
          <a:prstGeom prst="rect">
            <a:avLst/>
          </a:prstGeom>
          <a:noFill/>
        </p:spPr>
        <p:txBody>
          <a:bodyPr wrap="square">
            <a:spAutoFit/>
          </a:bodyPr>
          <a:lstStyle/>
          <a:p>
            <a:pPr>
              <a:defRPr b="1" sz="1300">
                <a:solidFill>
                  <a:srgbClr val="1B4332"/>
                </a:solidFill>
              </a:defRPr>
            </a:pPr>
            <a:r>
              <a:t>SDG 9: Industry, Innovation &amp; Infrastructure</a:t>
            </a:r>
          </a:p>
          <a:p>
            <a:pPr>
              <a:defRPr b="1" sz="1050">
                <a:solidFill>
                  <a:srgbClr val="2D6A4F"/>
                </a:solidFill>
              </a:defRPr>
            </a:pPr>
            <a:r>
              <a:t>Indicative Target: Target 9.1, 9.c</a:t>
            </a:r>
          </a:p>
          <a:p>
            <a:pPr>
              <a:defRPr sz="1000">
                <a:solidFill>
                  <a:srgbClr val="0F172A"/>
                </a:solidFill>
              </a:defRPr>
            </a:pPr>
            <a:r>
              <a:t>Builds resilient, cloud-native emergency communication infrastructure ensuring rapid incident routing even when terrestrial networks collapse.</a:t>
            </a:r>
          </a:p>
        </p:txBody>
      </p:sp>
      <p:sp>
        <p:nvSpPr>
          <p:cNvPr id="8" name="Rounded Rectangle 7"/>
          <p:cNvSpPr/>
          <p:nvPr/>
        </p:nvSpPr>
        <p:spPr>
          <a:xfrm>
            <a:off x="6217920" y="1463040"/>
            <a:ext cx="5212080" cy="201168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92240" y="1737360"/>
            <a:ext cx="731520" cy="73152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11</a:t>
            </a:r>
          </a:p>
        </p:txBody>
      </p:sp>
      <p:sp>
        <p:nvSpPr>
          <p:cNvPr id="10" name="TextBox 9"/>
          <p:cNvSpPr txBox="1"/>
          <p:nvPr/>
        </p:nvSpPr>
        <p:spPr>
          <a:xfrm>
            <a:off x="7406640" y="1645920"/>
            <a:ext cx="3840480" cy="1645920"/>
          </a:xfrm>
          <a:prstGeom prst="rect">
            <a:avLst/>
          </a:prstGeom>
          <a:noFill/>
        </p:spPr>
        <p:txBody>
          <a:bodyPr wrap="square">
            <a:spAutoFit/>
          </a:bodyPr>
          <a:lstStyle/>
          <a:p>
            <a:pPr>
              <a:defRPr b="1" sz="1300">
                <a:solidFill>
                  <a:srgbClr val="1B4332"/>
                </a:solidFill>
              </a:defRPr>
            </a:pPr>
            <a:r>
              <a:t>SDG 11: Sustainable Cities &amp; Communities</a:t>
            </a:r>
          </a:p>
          <a:p>
            <a:pPr>
              <a:defRPr b="1" sz="1050">
                <a:solidFill>
                  <a:srgbClr val="2D6A4F"/>
                </a:solidFill>
              </a:defRPr>
            </a:pPr>
            <a:r>
              <a:t>Indicative Target: Target 11.5</a:t>
            </a:r>
          </a:p>
          <a:p>
            <a:pPr>
              <a:defRPr sz="1000">
                <a:solidFill>
                  <a:srgbClr val="0F172A"/>
                </a:solidFill>
              </a:defRPr>
            </a:pPr>
            <a:r>
              <a:t>Drastically mitigates casualty rates and physical damage in vulnerable urban zones by enabling immediate aerial victim discovery and directed rescue dispatch.</a:t>
            </a:r>
          </a:p>
        </p:txBody>
      </p:sp>
      <p:sp>
        <p:nvSpPr>
          <p:cNvPr id="11" name="Rounded Rectangle 10"/>
          <p:cNvSpPr/>
          <p:nvPr/>
        </p:nvSpPr>
        <p:spPr>
          <a:xfrm>
            <a:off x="731520" y="3749039"/>
            <a:ext cx="5212080" cy="201168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4023359"/>
            <a:ext cx="731520" cy="7315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13</a:t>
            </a:r>
          </a:p>
        </p:txBody>
      </p:sp>
      <p:sp>
        <p:nvSpPr>
          <p:cNvPr id="13" name="TextBox 12"/>
          <p:cNvSpPr txBox="1"/>
          <p:nvPr/>
        </p:nvSpPr>
        <p:spPr>
          <a:xfrm>
            <a:off x="1920240" y="3931919"/>
            <a:ext cx="3840480" cy="1645920"/>
          </a:xfrm>
          <a:prstGeom prst="rect">
            <a:avLst/>
          </a:prstGeom>
          <a:noFill/>
        </p:spPr>
        <p:txBody>
          <a:bodyPr wrap="square">
            <a:spAutoFit/>
          </a:bodyPr>
          <a:lstStyle/>
          <a:p>
            <a:pPr>
              <a:defRPr b="1" sz="1300">
                <a:solidFill>
                  <a:srgbClr val="1B4332"/>
                </a:solidFill>
              </a:defRPr>
            </a:pPr>
            <a:r>
              <a:t>SDG 13: Climate Action</a:t>
            </a:r>
          </a:p>
          <a:p>
            <a:pPr>
              <a:defRPr b="1" sz="1050">
                <a:solidFill>
                  <a:srgbClr val="2D6A4F"/>
                </a:solidFill>
              </a:defRPr>
            </a:pPr>
            <a:r>
              <a:t>Indicative Target: Target 13.1, 13.2</a:t>
            </a:r>
          </a:p>
          <a:p>
            <a:pPr>
              <a:defRPr sz="1000">
                <a:solidFill>
                  <a:srgbClr val="0F172A"/>
                </a:solidFill>
              </a:defRPr>
            </a:pPr>
            <a:r>
              <a:t>Strengthens societal resilience and operational capacity to adapt to extreme climate hazards, urban flash floods, and severe storm events.</a:t>
            </a:r>
          </a:p>
        </p:txBody>
      </p:sp>
      <p:sp>
        <p:nvSpPr>
          <p:cNvPr id="14" name="Rounded Rectangle 13"/>
          <p:cNvSpPr/>
          <p:nvPr/>
        </p:nvSpPr>
        <p:spPr>
          <a:xfrm>
            <a:off x="6217920" y="3749039"/>
            <a:ext cx="5212080" cy="201168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92240" y="4023359"/>
            <a:ext cx="731520" cy="731520"/>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b="1" sz="1600">
                <a:solidFill>
                  <a:srgbClr val="FFFFFF"/>
                </a:solidFill>
              </a:defRPr>
            </a:pPr>
            <a:r>
              <a:t>12</a:t>
            </a:r>
          </a:p>
        </p:txBody>
      </p:sp>
      <p:sp>
        <p:nvSpPr>
          <p:cNvPr id="16" name="TextBox 15"/>
          <p:cNvSpPr txBox="1"/>
          <p:nvPr/>
        </p:nvSpPr>
        <p:spPr>
          <a:xfrm>
            <a:off x="7406640" y="3931919"/>
            <a:ext cx="3840480" cy="1645920"/>
          </a:xfrm>
          <a:prstGeom prst="rect">
            <a:avLst/>
          </a:prstGeom>
          <a:noFill/>
        </p:spPr>
        <p:txBody>
          <a:bodyPr wrap="square">
            <a:spAutoFit/>
          </a:bodyPr>
          <a:lstStyle/>
          <a:p>
            <a:pPr>
              <a:defRPr b="1" sz="1300">
                <a:solidFill>
                  <a:srgbClr val="1B4332"/>
                </a:solidFill>
              </a:defRPr>
            </a:pPr>
            <a:r>
              <a:t>SDG 12: Responsible Consumption &amp; Production</a:t>
            </a:r>
          </a:p>
          <a:p>
            <a:pPr>
              <a:defRPr b="1" sz="1050">
                <a:solidFill>
                  <a:srgbClr val="2D6A4F"/>
                </a:solidFill>
              </a:defRPr>
            </a:pPr>
            <a:r>
              <a:t>Indicative Target: Target 12.2</a:t>
            </a:r>
          </a:p>
          <a:p>
            <a:pPr>
              <a:defRPr sz="1000">
                <a:solidFill>
                  <a:srgbClr val="0F172A"/>
                </a:solidFill>
              </a:defRPr>
            </a:pPr>
            <a:r>
              <a:t>Serverless on-demand computing completely avoids idle virtual machine energy waste, ensuring green IT and optimal resource utilization.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lgn="l">
              <a:defRPr sz="3000" b="1">
                <a:solidFill>
                  <a:srgbClr val="1B4332"/>
                </a:solidFill>
              </a:defRPr>
            </a:pPr>
            <a:r>
              <a:t>Conclusion and Future Scope</a:t>
            </a:r>
          </a:p>
        </p:txBody>
      </p:sp>
      <p:sp>
        <p:nvSpPr>
          <p:cNvPr id="3" name="TextBox 2"/>
          <p:cNvSpPr txBox="1"/>
          <p:nvPr/>
        </p:nvSpPr>
        <p:spPr>
          <a:xfrm>
            <a:off x="731520" y="6309360"/>
            <a:ext cx="9601200" cy="365760"/>
          </a:xfrm>
          <a:prstGeom prst="rect">
            <a:avLst/>
          </a:prstGeom>
          <a:noFill/>
        </p:spPr>
        <p:txBody>
          <a:bodyPr wrap="none">
            <a:spAutoFit/>
          </a:bodyPr>
          <a:lstStyle/>
          <a:p>
            <a:pPr>
              <a:defRPr sz="1100">
                <a:solidFill>
                  <a:srgbClr val="475569"/>
                </a:solidFill>
              </a:defRPr>
            </a:pPr>
            <a:r>
              <a:t>ECA4PE23A Cloud Computing | B.Tech ECE (AIML) | DoEEE, MIT-WPU | AY 2026-27</a:t>
            </a:r>
          </a:p>
        </p:txBody>
      </p:sp>
      <p:sp>
        <p:nvSpPr>
          <p:cNvPr id="4" name="TextBox 3"/>
          <p:cNvSpPr txBox="1"/>
          <p:nvPr/>
        </p:nvSpPr>
        <p:spPr>
          <a:xfrm>
            <a:off x="10789920" y="6309360"/>
            <a:ext cx="731520" cy="365760"/>
          </a:xfrm>
          <a:prstGeom prst="rect">
            <a:avLst/>
          </a:prstGeom>
          <a:noFill/>
        </p:spPr>
        <p:txBody>
          <a:bodyPr wrap="none">
            <a:spAutoFit/>
          </a:bodyPr>
          <a:lstStyle/>
          <a:p>
            <a:pPr algn="r">
              <a:defRPr sz="1100" b="1">
                <a:solidFill>
                  <a:srgbClr val="475569"/>
                </a:solidFill>
              </a:defRPr>
            </a:pPr>
            <a:r>
              <a:t>11</a:t>
            </a:r>
          </a:p>
        </p:txBody>
      </p:sp>
      <p:sp>
        <p:nvSpPr>
          <p:cNvPr id="5" name="Rounded Rectangle 4"/>
          <p:cNvSpPr/>
          <p:nvPr/>
        </p:nvSpPr>
        <p:spPr>
          <a:xfrm>
            <a:off x="731520" y="1463040"/>
            <a:ext cx="5120640" cy="448056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572000" cy="4114800"/>
          </a:xfrm>
          <a:prstGeom prst="rect">
            <a:avLst/>
          </a:prstGeom>
          <a:noFill/>
        </p:spPr>
        <p:txBody>
          <a:bodyPr wrap="square">
            <a:spAutoFit/>
          </a:bodyPr>
          <a:lstStyle/>
          <a:p>
            <a:pPr>
              <a:defRPr b="1" sz="2000">
                <a:solidFill>
                  <a:srgbClr val="1B4332"/>
                </a:solidFill>
              </a:defRPr>
            </a:pPr>
            <a:r>
              <a:t>Key Learnings</a:t>
            </a:r>
          </a:p>
          <a:p>
            <a:br/>
            <a:pPr>
              <a:defRPr b="1" sz="1200">
                <a:solidFill>
                  <a:srgbClr val="0F172A"/>
                </a:solidFill>
              </a:defRPr>
            </a:pPr>
            <a:r>
              <a:t>• Hands-on Serverless Cloud Engineering:</a:t>
            </a:r>
          </a:p>
          <a:p>
            <a:pPr>
              <a:defRPr sz="1050">
                <a:solidFill>
                  <a:srgbClr val="475569"/>
                </a:solidFill>
              </a:defRPr>
            </a:pPr>
            <a:r>
              <a:t>Mastered AWS Lambda, API Gateway, DynamoDB, S3, and Amplify to build a decoupled, zero-maintenance emergency backend.</a:t>
            </a:r>
          </a:p>
          <a:p>
            <a:br/>
            <a:pPr>
              <a:defRPr b="1" sz="1200">
                <a:solidFill>
                  <a:srgbClr val="0F172A"/>
                </a:solidFill>
              </a:defRPr>
            </a:pPr>
            <a:r>
              <a:t>• Edge-to-Cloud Real-time Integration:</a:t>
            </a:r>
          </a:p>
          <a:p>
            <a:pPr>
              <a:defRPr sz="1050">
                <a:solidFill>
                  <a:srgbClr val="475569"/>
                </a:solidFill>
              </a:defRPr>
            </a:pPr>
            <a:r>
              <a:t>Bridged hardware drone camera WebRTC video feeds with cloud microservices using JSON REST payloads and satellite GPS tags.</a:t>
            </a:r>
          </a:p>
          <a:p>
            <a:br/>
            <a:pPr>
              <a:defRPr b="1" sz="1200">
                <a:solidFill>
                  <a:srgbClr val="0F172A"/>
                </a:solidFill>
              </a:defRPr>
            </a:pPr>
            <a:r>
              <a:t>• Geospatial Disaster Analytics:</a:t>
            </a:r>
          </a:p>
          <a:p>
            <a:pPr>
              <a:defRPr sz="1050">
                <a:solidFill>
                  <a:srgbClr val="475569"/>
                </a:solidFill>
              </a:defRPr>
            </a:pPr>
            <a:r>
              <a:t>Implemented Haversine distance vectors, Esri defense GIS layers, and amphibious boat routing algorithms for flooded terrain.</a:t>
            </a:r>
          </a:p>
          <a:p>
            <a:br/>
            <a:pPr>
              <a:defRPr b="1" sz="1200">
                <a:solidFill>
                  <a:srgbClr val="0F172A"/>
                </a:solidFill>
              </a:defRPr>
            </a:pPr>
            <a:r>
              <a:t>• Zero-Cost Production Architecture:</a:t>
            </a:r>
          </a:p>
          <a:p>
            <a:pPr>
              <a:defRPr sz="1050">
                <a:solidFill>
                  <a:srgbClr val="475569"/>
                </a:solidFill>
              </a:defRPr>
            </a:pPr>
            <a:r>
              <a:t>Demonstrated that life-critical emergency management systems can run entirely within AWS Free Tier quotas at ₹0.00 cost.</a:t>
            </a:r>
          </a:p>
        </p:txBody>
      </p:sp>
      <p:sp>
        <p:nvSpPr>
          <p:cNvPr id="7" name="Rounded Rectangle 6"/>
          <p:cNvSpPr/>
          <p:nvPr/>
        </p:nvSpPr>
        <p:spPr>
          <a:xfrm>
            <a:off x="6309360" y="1463040"/>
            <a:ext cx="5120640" cy="4480560"/>
          </a:xfrm>
          <a:prstGeom prst="roundRect">
            <a:avLst/>
          </a:prstGeom>
          <a:solidFill>
            <a:srgbClr val="F1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645920"/>
            <a:ext cx="4572000" cy="4114800"/>
          </a:xfrm>
          <a:prstGeom prst="rect">
            <a:avLst/>
          </a:prstGeom>
          <a:noFill/>
        </p:spPr>
        <p:txBody>
          <a:bodyPr wrap="square">
            <a:spAutoFit/>
          </a:bodyPr>
          <a:lstStyle/>
          <a:p>
            <a:pPr>
              <a:defRPr b="1" sz="2000">
                <a:solidFill>
                  <a:srgbClr val="1B4332"/>
                </a:solidFill>
              </a:defRPr>
            </a:pPr>
            <a:r>
              <a:t>Future Scope</a:t>
            </a:r>
          </a:p>
          <a:p>
            <a:br/>
            <a:pPr>
              <a:defRPr b="1" sz="1200">
                <a:solidFill>
                  <a:srgbClr val="0F172A"/>
                </a:solidFill>
              </a:defRPr>
            </a:pPr>
            <a:r>
              <a:t>• Autonomous Drone Swarm Coordination:</a:t>
            </a:r>
          </a:p>
          <a:p>
            <a:pPr>
              <a:defRPr sz="1050">
                <a:solidFill>
                  <a:srgbClr val="475569"/>
                </a:solidFill>
              </a:defRPr>
            </a:pPr>
            <a:r>
              <a:t>Scale to multi-UAV mesh networks using AWS IoT Core and MQTT for coordinated sector search-and-rescue.</a:t>
            </a:r>
          </a:p>
          <a:p>
            <a:br/>
            <a:pPr>
              <a:defRPr b="1" sz="1200">
                <a:solidFill>
                  <a:srgbClr val="0F172A"/>
                </a:solidFill>
              </a:defRPr>
            </a:pPr>
            <a:r>
              <a:t>• Edge Neural Inferencing (Jetson / Pi):</a:t>
            </a:r>
          </a:p>
          <a:p>
            <a:pPr>
              <a:defRPr sz="1050">
                <a:solidFill>
                  <a:srgbClr val="475569"/>
                </a:solidFill>
              </a:defRPr>
            </a:pPr>
            <a:r>
              <a:t>Deploy lightweight TensorRT / YOLOv8 models directly on onboard drone processors for offline, sub-second distress detection.</a:t>
            </a:r>
          </a:p>
          <a:p>
            <a:br/>
            <a:pPr>
              <a:defRPr b="1" sz="1200">
                <a:solidFill>
                  <a:srgbClr val="0F172A"/>
                </a:solidFill>
              </a:defRPr>
            </a:pPr>
            <a:r>
              <a:t>• Automated Medical Payload Drops:</a:t>
            </a:r>
          </a:p>
          <a:p>
            <a:pPr>
              <a:defRPr sz="1050">
                <a:solidFill>
                  <a:srgbClr val="475569"/>
                </a:solidFill>
              </a:defRPr>
            </a:pPr>
            <a:r>
              <a:t>Integrate robotic servo release mechanisms to drop emergency medical kits and life vests directly to identified victims.</a:t>
            </a:r>
          </a:p>
          <a:p>
            <a:br/>
            <a:pPr>
              <a:defRPr b="1" sz="1200">
                <a:solidFill>
                  <a:srgbClr val="0F172A"/>
                </a:solidFill>
              </a:defRPr>
            </a:pPr>
            <a:r>
              <a:t>• Multi-Cloud &amp; Hybrid Disaster Failover:</a:t>
            </a:r>
          </a:p>
          <a:p>
            <a:pPr>
              <a:defRPr sz="1050">
                <a:solidFill>
                  <a:srgbClr val="475569"/>
                </a:solidFill>
              </a:defRPr>
            </a:pPr>
            <a:r>
              <a:t>Implement cross-cloud synchronization across AWS and Google Cloud Platform for zero-downtime resilience during regional blackouts.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1371600"/>
          </a:xfrm>
          <a:prstGeom prst="rect">
            <a:avLst/>
          </a:prstGeom>
          <a:noFill/>
        </p:spPr>
        <p:txBody>
          <a:bodyPr wrap="none">
            <a:spAutoFit/>
          </a:bodyPr>
          <a:lstStyle/>
          <a:p>
            <a:pPr algn="ctr">
              <a:defRPr sz="4800" b="1">
                <a:solidFill>
                  <a:srgbClr val="FFFFFF"/>
                </a:solidFill>
              </a:defRPr>
            </a:pPr>
            <a:r>
              <a:t>Thank You</a:t>
            </a:r>
          </a:p>
          <a:p>
            <a:pPr algn="ctr">
              <a:defRPr sz="2400" b="1">
                <a:solidFill>
                  <a:srgbClr val="FEF08A"/>
                </a:solidFill>
              </a:defRPr>
            </a:pPr>
            <a:r>
              <a:t>Questions and Discussion</a:t>
            </a:r>
          </a:p>
        </p:txBody>
      </p:sp>
      <p:sp>
        <p:nvSpPr>
          <p:cNvPr id="4" name="TextBox 3"/>
          <p:cNvSpPr txBox="1"/>
          <p:nvPr/>
        </p:nvSpPr>
        <p:spPr>
          <a:xfrm>
            <a:off x="914400" y="4114800"/>
            <a:ext cx="10332720" cy="1371600"/>
          </a:xfrm>
          <a:prstGeom prst="rect">
            <a:avLst/>
          </a:prstGeom>
          <a:noFill/>
        </p:spPr>
        <p:txBody>
          <a:bodyPr wrap="none">
            <a:spAutoFit/>
          </a:bodyPr>
          <a:lstStyle/>
          <a:p>
            <a:pPr algn="ctr">
              <a:defRPr sz="1600" b="1">
                <a:solidFill>
                  <a:srgbClr val="A7F3D0"/>
                </a:solidFill>
              </a:defRPr>
            </a:pPr>
            <a:r>
              <a:t>Smart Disaster Management &amp; Aerial Drone Reconnaissance Cloud Platform</a:t>
            </a:r>
          </a:p>
          <a:p>
            <a:pPr algn="ctr">
              <a:defRPr sz="1500">
                <a:solidFill>
                  <a:srgbClr val="FFFFFF"/>
                </a:solidFill>
              </a:defRPr>
            </a:pPr>
            <a:r>
              <a:t>Prince Gupta (1032232904)   &amp;   Nirmaan Pawar (1032232352)</a:t>
            </a:r>
          </a:p>
          <a:p>
            <a:pPr algn="ctr">
              <a:defRPr sz="1300">
                <a:solidFill>
                  <a:srgbClr val="94A3B8"/>
                </a:solidFill>
              </a:defRPr>
            </a:pPr>
            <a:r>
              <a:t>ECA4PE23A Cloud Computing | B.Tech ECE (AIML) | DoEEE, MIT-WPU | AY 2026-27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